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30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59" r:id="rId11"/>
    <p:sldId id="286" r:id="rId12"/>
    <p:sldId id="285" r:id="rId13"/>
    <p:sldId id="288" r:id="rId14"/>
    <p:sldId id="289" r:id="rId15"/>
    <p:sldId id="290" r:id="rId16"/>
    <p:sldId id="299" r:id="rId17"/>
    <p:sldId id="301" r:id="rId18"/>
    <p:sldId id="291" r:id="rId19"/>
    <p:sldId id="302" r:id="rId20"/>
    <p:sldId id="303" r:id="rId21"/>
    <p:sldId id="305" r:id="rId22"/>
    <p:sldId id="304" r:id="rId23"/>
    <p:sldId id="306" r:id="rId24"/>
    <p:sldId id="307" r:id="rId25"/>
    <p:sldId id="308" r:id="rId26"/>
    <p:sldId id="309" r:id="rId27"/>
    <p:sldId id="310" r:id="rId28"/>
    <p:sldId id="311" r:id="rId29"/>
  </p:sldIdLst>
  <p:sldSz cx="9144000" cy="5143500" type="screen16x9"/>
  <p:notesSz cx="6858000" cy="9144000"/>
  <p:embeddedFontLst>
    <p:embeddedFont>
      <p:font typeface="Inter" panose="020B0604020202020204" charset="0"/>
      <p:regular r:id="rId31"/>
      <p:bold r:id="rId32"/>
      <p:italic r:id="rId33"/>
      <p:boldItalic r:id="rId34"/>
    </p:embeddedFont>
    <p:embeddedFont>
      <p:font typeface="Inter ExtraBold" panose="020B0604020202020204" charset="0"/>
      <p:bold r:id="rId35"/>
      <p:boldItalic r:id="rId36"/>
    </p:embeddedFont>
    <p:embeddedFont>
      <p:font typeface="Inter Light" panose="020B0604020202020204" charset="0"/>
      <p:regular r:id="rId37"/>
      <p:bold r:id="rId38"/>
      <p:italic r:id="rId39"/>
      <p:boldItalic r:id="rId40"/>
    </p:embeddedFont>
    <p:embeddedFont>
      <p:font typeface="Inter SemiBold" panose="020B0604020202020204" charset="0"/>
      <p:regular r:id="rId41"/>
      <p:bold r:id="rId42"/>
      <p:italic r:id="rId43"/>
      <p:boldItalic r:id="rId44"/>
    </p:embeddedFont>
    <p:embeddedFont>
      <p:font typeface="Lato" panose="020F0502020204030203" pitchFamily="34" charset="0"/>
      <p:regular r:id="rId45"/>
      <p:bold r:id="rId46"/>
      <p:italic r:id="rId47"/>
      <p:boldItalic r:id="rId48"/>
    </p:embeddedFont>
    <p:embeddedFont>
      <p:font typeface="Playfair Display" panose="000005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445ED9-5185-4319-B9D4-1B0D5F0CB952}">
  <a:tblStyle styleId="{AE445ED9-5185-4319-B9D4-1B0D5F0CB9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956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font" Target="fonts/font20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ff71f2f33_0_2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2ff71f2f33_0_2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ff71f2f3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2ff71f2f3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f71f2f33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2ff71f2f33_0_2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1C32FFC9-BF7D-FB71-1F2F-36DD7808E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A024D382-40C2-BC52-6928-D8C8CA277D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24A4EF06-FF18-027E-8CCD-8D7A5633BF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467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B27D446D-E3B5-4A98-C1D0-94D0B2A7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4AB96D8F-CEEA-D373-1E75-79C7D27B3D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B5664084-A334-38A0-983D-9040E33C3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7969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420FD53B-3D91-3E15-74C9-0580C68C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358AF597-647B-FFBC-A08E-79FC243C6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85A07AA2-B19C-3F0A-4B37-ED81E8AD3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8219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43D07B62-EF17-1811-E8F8-CF1CCE003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ACC7364B-F244-E44C-9C2B-159EE5041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C05C02F4-0D2E-B4C8-9493-97806608E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0036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EE9B9E27-206F-0883-7658-3D5ADF19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1500D688-FB4B-1D22-38E0-0D164527E3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59F11593-BE64-04AF-A677-508ED0FA2B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750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68C28DE7-C71B-5EE9-875F-23A67754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5D7E4769-81B3-4FB9-BFFA-FB1A7F331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F0D30258-37D0-6961-C7A1-296730E18A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695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ff71f2f33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2ff71f2f33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AED870E-A10B-57B7-54F5-05A81DE3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ff71f2f33_0_91:notes">
            <a:extLst>
              <a:ext uri="{FF2B5EF4-FFF2-40B4-BE49-F238E27FC236}">
                <a16:creationId xmlns:a16="http://schemas.microsoft.com/office/drawing/2014/main" id="{AF9CA214-3A44-A54B-775A-1DF155324E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2ff71f2f33_0_91:notes">
            <a:extLst>
              <a:ext uri="{FF2B5EF4-FFF2-40B4-BE49-F238E27FC236}">
                <a16:creationId xmlns:a16="http://schemas.microsoft.com/office/drawing/2014/main" id="{EB25E14F-A279-8B8C-BE86-F244D58AC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1019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CB5AB2B9-2DFF-29C7-E403-A3DCF5AB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f71f2f33_0_2098:notes">
            <a:extLst>
              <a:ext uri="{FF2B5EF4-FFF2-40B4-BE49-F238E27FC236}">
                <a16:creationId xmlns:a16="http://schemas.microsoft.com/office/drawing/2014/main" id="{BC3AA6EC-6043-71C7-91A7-6647A8CFB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2ff71f2f33_0_2098:notes">
            <a:extLst>
              <a:ext uri="{FF2B5EF4-FFF2-40B4-BE49-F238E27FC236}">
                <a16:creationId xmlns:a16="http://schemas.microsoft.com/office/drawing/2014/main" id="{14FCF4C3-AE08-DBF2-9409-42B3C4083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974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6E947877-6D3D-4412-28BB-FEF377F6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f71f2f33_0_2098:notes">
            <a:extLst>
              <a:ext uri="{FF2B5EF4-FFF2-40B4-BE49-F238E27FC236}">
                <a16:creationId xmlns:a16="http://schemas.microsoft.com/office/drawing/2014/main" id="{DD2DDC5A-DA26-DFF6-5A6B-5C04C747F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2ff71f2f33_0_2098:notes">
            <a:extLst>
              <a:ext uri="{FF2B5EF4-FFF2-40B4-BE49-F238E27FC236}">
                <a16:creationId xmlns:a16="http://schemas.microsoft.com/office/drawing/2014/main" id="{7CCB1911-67BF-72F7-83CF-33D40C2F0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675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AD16E447-5253-A41C-42E7-B4A71FB7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f71f2f33_0_2098:notes">
            <a:extLst>
              <a:ext uri="{FF2B5EF4-FFF2-40B4-BE49-F238E27FC236}">
                <a16:creationId xmlns:a16="http://schemas.microsoft.com/office/drawing/2014/main" id="{65CD8C6D-F526-456C-2195-4A05A5CAF6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2ff71f2f33_0_2098:notes">
            <a:extLst>
              <a:ext uri="{FF2B5EF4-FFF2-40B4-BE49-F238E27FC236}">
                <a16:creationId xmlns:a16="http://schemas.microsoft.com/office/drawing/2014/main" id="{422DBFD4-1293-FB16-96DF-F599E01EA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959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AFA8645-32F5-4A0A-2A88-411C7743E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ff71f2f33_0_91:notes">
            <a:extLst>
              <a:ext uri="{FF2B5EF4-FFF2-40B4-BE49-F238E27FC236}">
                <a16:creationId xmlns:a16="http://schemas.microsoft.com/office/drawing/2014/main" id="{2F16B568-05DA-F117-46DE-072FC87D9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2ff71f2f33_0_91:notes">
            <a:extLst>
              <a:ext uri="{FF2B5EF4-FFF2-40B4-BE49-F238E27FC236}">
                <a16:creationId xmlns:a16="http://schemas.microsoft.com/office/drawing/2014/main" id="{8FE3C738-BD0B-5784-3C3E-F7A5E6412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8964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3D0AAACB-73C1-65CA-20F7-7880A8EF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ff71f2f33_0_91:notes">
            <a:extLst>
              <a:ext uri="{FF2B5EF4-FFF2-40B4-BE49-F238E27FC236}">
                <a16:creationId xmlns:a16="http://schemas.microsoft.com/office/drawing/2014/main" id="{1BCE5CB4-7ABD-F60A-2011-7220369DD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2ff71f2f33_0_91:notes">
            <a:extLst>
              <a:ext uri="{FF2B5EF4-FFF2-40B4-BE49-F238E27FC236}">
                <a16:creationId xmlns:a16="http://schemas.microsoft.com/office/drawing/2014/main" id="{FA47971B-A505-924F-FAA6-5BDFF681C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9255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637711E-6C20-0F0B-7BD0-B50F87A0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ff71f2f33_0_91:notes">
            <a:extLst>
              <a:ext uri="{FF2B5EF4-FFF2-40B4-BE49-F238E27FC236}">
                <a16:creationId xmlns:a16="http://schemas.microsoft.com/office/drawing/2014/main" id="{33C69027-3E30-1B06-B598-BB561AB95F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2ff71f2f33_0_91:notes">
            <a:extLst>
              <a:ext uri="{FF2B5EF4-FFF2-40B4-BE49-F238E27FC236}">
                <a16:creationId xmlns:a16="http://schemas.microsoft.com/office/drawing/2014/main" id="{DEAD9D1F-7B46-65FA-72CE-ED291DF1D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1944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EADEFE84-8CFF-7C2D-D85F-B1E48C91A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2C7D11D9-2940-D179-458D-255B99EBB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F23D69F0-8207-D18C-AAA2-B564A0D201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91284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9600FB64-EDF0-2938-165B-8BA39A1A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27D16852-0CE8-34DE-8028-DB1E65D18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CC2DDA37-3012-6C3D-E785-72A9207550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85671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8F9B98AC-DDDF-B4C5-16C8-8BA5E2B8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B66D48FD-FE2D-AD56-492E-26619CDE04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3662083B-52ED-A349-6F87-FDC68D366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7085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0DAA97EC-C0FD-3844-D779-C21CD304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36DB3DCF-92A4-D8F1-5DC7-AD3A73B62E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834295C0-6B68-6282-7BE3-1A2C0EB62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00947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1A7C97D3-652D-9C01-11A7-62F64FEB2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8243E4AA-52AA-85CE-6B7A-544A65DE24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CB7F169D-E0BF-706E-E908-36CA90438B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2061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39FC867E-DCD0-AE9E-9659-6CA1096F0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403B4F5E-A42B-AC84-C1B5-894B99A59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69093E8E-5C99-D6D3-D1A5-241D11213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23617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69A9CA0E-77F0-BB4A-8AF5-A259047D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2E5A7CBA-FFCC-E23F-F9CA-EE441C720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7EE69D97-587B-CFB8-F8E8-079BBFFB8F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55874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BFF34ACE-0453-EABA-0E73-1E5272A1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5128900C-D96C-4D98-6D33-8A5DF2167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42A2E680-2820-BDA2-AA91-57A90B288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38312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B159AAFA-CAD1-B986-FF53-191284E2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87FE4760-5095-A4EC-84EE-7520EDB7A8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8010271B-7817-C407-33ED-1D922D897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07083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926411B7-B122-7190-A296-81390036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f71f2f33_0_15:notes">
            <a:extLst>
              <a:ext uri="{FF2B5EF4-FFF2-40B4-BE49-F238E27FC236}">
                <a16:creationId xmlns:a16="http://schemas.microsoft.com/office/drawing/2014/main" id="{6A5AFF29-529A-7E69-5DE5-4BF7F015C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f71f2f33_0_15:notes">
            <a:extLst>
              <a:ext uri="{FF2B5EF4-FFF2-40B4-BE49-F238E27FC236}">
                <a16:creationId xmlns:a16="http://schemas.microsoft.com/office/drawing/2014/main" id="{6DC6AC1C-7055-F71F-1AE2-13677172D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8165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346DEA7-F496-EE4D-22B8-2F0530BA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ff71f2f33_0_91:notes">
            <a:extLst>
              <a:ext uri="{FF2B5EF4-FFF2-40B4-BE49-F238E27FC236}">
                <a16:creationId xmlns:a16="http://schemas.microsoft.com/office/drawing/2014/main" id="{77C21D79-65E5-0968-1DF4-48744265D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2ff71f2f33_0_91:notes">
            <a:extLst>
              <a:ext uri="{FF2B5EF4-FFF2-40B4-BE49-F238E27FC236}">
                <a16:creationId xmlns:a16="http://schemas.microsoft.com/office/drawing/2014/main" id="{A5EA5FA4-0005-5B74-32FA-DBD9D0E6C3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7939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A626C8-F6BC-95AC-CBE7-91CA5608D1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79738" y="1143001"/>
            <a:ext cx="1812925" cy="22326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248F0A7-10CD-C53C-9317-BE8918ACF7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60938" y="1143001"/>
            <a:ext cx="1812925" cy="22326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1C2DB8F-01CA-7892-A17F-9B97CC5E57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98538" y="1143001"/>
            <a:ext cx="1812925" cy="2232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1BCC52A-1EC8-9910-3C89-6C1B7AFE61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982662" y="1143001"/>
            <a:ext cx="1812925" cy="22326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E2BA55-643E-2A2F-0B73-3A2FADDDD3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51675" y="1143001"/>
            <a:ext cx="1812925" cy="223266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3D0FC60-4490-8B77-8310-3EB1302D330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942412" y="1143001"/>
            <a:ext cx="1812925" cy="22326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TITLE_1">
    <p:bg>
      <p:bgPr>
        <a:solidFill>
          <a:schemeClr val="dk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 b="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8" name="Google Shape;58;p1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3"/>
          <p:cNvSpPr>
            <a:spLocks noGrp="1"/>
          </p:cNvSpPr>
          <p:nvPr>
            <p:ph type="pic" idx="3"/>
          </p:nvPr>
        </p:nvSpPr>
        <p:spPr>
          <a:xfrm>
            <a:off x="5039775" y="196800"/>
            <a:ext cx="3905400" cy="47499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  <p:sp>
        <p:nvSpPr>
          <p:cNvPr id="60" name="Google Shape;60;p1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53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sion / Mission">
  <p:cSld name="SECTION_HEADER_1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>
            <a:spLocks noGrp="1"/>
          </p:cNvSpPr>
          <p:nvPr>
            <p:ph type="pic" idx="2"/>
          </p:nvPr>
        </p:nvSpPr>
        <p:spPr>
          <a:xfrm>
            <a:off x="5039775" y="203250"/>
            <a:ext cx="3905400" cy="22986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  <p:cxnSp>
        <p:nvCxnSpPr>
          <p:cNvPr id="74" name="Google Shape;74;p1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>
            <a:spLocks noGrp="1"/>
          </p:cNvSpPr>
          <p:nvPr>
            <p:ph type="pic" idx="3"/>
          </p:nvPr>
        </p:nvSpPr>
        <p:spPr>
          <a:xfrm>
            <a:off x="5039775" y="2624675"/>
            <a:ext cx="3905400" cy="22986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Strategy">
  <p:cSld name="BLANK_1">
    <p:bg>
      <p:bgPr>
        <a:solidFill>
          <a:schemeClr val="dk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>
            <a:spLocks noGrp="1"/>
          </p:cNvSpPr>
          <p:nvPr>
            <p:ph type="pic" idx="2"/>
          </p:nvPr>
        </p:nvSpPr>
        <p:spPr>
          <a:xfrm>
            <a:off x="6445900" y="626975"/>
            <a:ext cx="1932900" cy="2070000"/>
          </a:xfrm>
          <a:prstGeom prst="roundRect">
            <a:avLst>
              <a:gd name="adj" fmla="val 5387"/>
            </a:avLst>
          </a:prstGeom>
          <a:noFill/>
          <a:ln>
            <a:noFill/>
          </a:ln>
        </p:spPr>
      </p:sp>
      <p:sp>
        <p:nvSpPr>
          <p:cNvPr id="110" name="Google Shape;110;p19"/>
          <p:cNvSpPr>
            <a:spLocks noGrp="1"/>
          </p:cNvSpPr>
          <p:nvPr>
            <p:ph type="pic" idx="3"/>
          </p:nvPr>
        </p:nvSpPr>
        <p:spPr>
          <a:xfrm>
            <a:off x="4210025" y="626975"/>
            <a:ext cx="1932900" cy="2070000"/>
          </a:xfrm>
          <a:prstGeom prst="roundRect">
            <a:avLst>
              <a:gd name="adj" fmla="val 5387"/>
            </a:avLst>
          </a:prstGeom>
          <a:noFill/>
          <a:ln>
            <a:noFill/>
          </a:ln>
        </p:spPr>
      </p:sp>
      <p:cxnSp>
        <p:nvCxnSpPr>
          <p:cNvPr id="111" name="Google Shape;111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1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4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5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6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7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9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5" r:id="rId13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3.xml"/><Relationship Id="rId7" Type="http://schemas.openxmlformats.org/officeDocument/2006/relationships/slide" Target="slide1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4.sv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hyperlink" Target="https://mmlab.ie.cuhk.edu.hk/projects/CelebA.html" TargetMode="External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slide" Target="slide2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30.png"/><Relationship Id="rId5" Type="http://schemas.microsoft.com/office/2007/relationships/hdphoto" Target="../media/hdphoto2.wdp"/><Relationship Id="rId10" Type="http://schemas.microsoft.com/office/2007/relationships/hdphoto" Target="../media/hdphoto3.wdp"/><Relationship Id="rId4" Type="http://schemas.openxmlformats.org/officeDocument/2006/relationships/image" Target="../media/image27.png"/><Relationship Id="rId9" Type="http://schemas.openxmlformats.org/officeDocument/2006/relationships/image" Target="../media/image29.png"/><Relationship Id="rId14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30.png"/><Relationship Id="rId5" Type="http://schemas.microsoft.com/office/2007/relationships/hdphoto" Target="../media/hdphoto2.wdp"/><Relationship Id="rId10" Type="http://schemas.microsoft.com/office/2007/relationships/hdphoto" Target="../media/hdphoto3.wdp"/><Relationship Id="rId4" Type="http://schemas.openxmlformats.org/officeDocument/2006/relationships/image" Target="../media/image27.png"/><Relationship Id="rId9" Type="http://schemas.openxmlformats.org/officeDocument/2006/relationships/image" Target="../media/image29.png"/><Relationship Id="rId1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7" Type="http://schemas.openxmlformats.org/officeDocument/2006/relationships/slide" Target="slide2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15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1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5" Type="http://schemas.openxmlformats.org/officeDocument/2006/relationships/image" Target="../media/image2.png"/><Relationship Id="rId10" Type="http://schemas.microsoft.com/office/2007/relationships/hdphoto" Target="../media/hdphoto5.wdp"/><Relationship Id="rId4" Type="http://schemas.openxmlformats.org/officeDocument/2006/relationships/image" Target="../media/image14.sv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13.png"/><Relationship Id="rId7" Type="http://schemas.openxmlformats.org/officeDocument/2006/relationships/slide" Target="slide2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2.png"/><Relationship Id="rId10" Type="http://schemas.microsoft.com/office/2007/relationships/hdphoto" Target="../media/hdphoto5.wdp"/><Relationship Id="rId4" Type="http://schemas.openxmlformats.org/officeDocument/2006/relationships/image" Target="../media/image14.svg"/><Relationship Id="rId9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image" Target="../media/image13.png"/><Relationship Id="rId7" Type="http://schemas.openxmlformats.org/officeDocument/2006/relationships/image" Target="../media/image3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2.png"/><Relationship Id="rId10" Type="http://schemas.microsoft.com/office/2007/relationships/hdphoto" Target="../media/hdphoto5.wdp"/><Relationship Id="rId4" Type="http://schemas.openxmlformats.org/officeDocument/2006/relationships/image" Target="../media/image14.svg"/><Relationship Id="rId9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tmp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5" Type="http://schemas.openxmlformats.org/officeDocument/2006/relationships/image" Target="../media/image41.tmp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slide" Target="slide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slide" Target="slide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6.wdp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675" y="0"/>
            <a:ext cx="43983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/>
          <p:nvPr/>
        </p:nvSpPr>
        <p:spPr>
          <a:xfrm>
            <a:off x="15125" y="0"/>
            <a:ext cx="4730700" cy="5143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6" name="Google Shape;25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525" y="4387100"/>
            <a:ext cx="2552602" cy="58180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293700" y="896146"/>
            <a:ext cx="4324800" cy="17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Face Recognition</a:t>
            </a:r>
            <a:endParaRPr dirty="0"/>
          </a:p>
        </p:txBody>
      </p:sp>
      <p:sp>
        <p:nvSpPr>
          <p:cNvPr id="258" name="Google Shape;258;p30"/>
          <p:cNvSpPr/>
          <p:nvPr/>
        </p:nvSpPr>
        <p:spPr>
          <a:xfrm>
            <a:off x="395525" y="304300"/>
            <a:ext cx="2676900" cy="410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Project 1</a:t>
            </a:r>
            <a:endParaRPr sz="18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DE9F4E-91D7-0E54-3A14-F36D7E577B2F}"/>
              </a:ext>
            </a:extLst>
          </p:cNvPr>
          <p:cNvSpPr txBox="1"/>
          <p:nvPr/>
        </p:nvSpPr>
        <p:spPr>
          <a:xfrm>
            <a:off x="395525" y="2472854"/>
            <a:ext cx="38045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Alfian</a:t>
            </a:r>
            <a:r>
              <a:rPr lang="en-US" sz="2000" dirty="0"/>
              <a:t> </a:t>
            </a:r>
            <a:r>
              <a:rPr lang="en-US" sz="2000" dirty="0" err="1"/>
              <a:t>Bimanjaya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Julian Alex Joshua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Justin  Ryan Pangestu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Makarim</a:t>
            </a:r>
            <a:r>
              <a:rPr lang="en-US" sz="2000" dirty="0"/>
              <a:t> Muhammad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Samuel </a:t>
            </a:r>
            <a:r>
              <a:rPr lang="en-US" sz="2000" dirty="0" err="1"/>
              <a:t>Johanes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/>
          <p:nvPr/>
        </p:nvSpPr>
        <p:spPr>
          <a:xfrm>
            <a:off x="-100" y="7575"/>
            <a:ext cx="91440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31">
            <a:hlinkClick r:id="rId3" action="ppaction://hlinksldjump"/>
          </p:cNvPr>
          <p:cNvSpPr/>
          <p:nvPr/>
        </p:nvSpPr>
        <p:spPr>
          <a:xfrm>
            <a:off x="4893875" y="197800"/>
            <a:ext cx="3358500" cy="6126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31"/>
          <p:cNvSpPr txBox="1"/>
          <p:nvPr/>
        </p:nvSpPr>
        <p:spPr>
          <a:xfrm>
            <a:off x="5238125" y="273250"/>
            <a:ext cx="267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Business Understanding</a:t>
            </a: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31">
            <a:hlinkClick r:id="rId4" action="ppaction://hlinksldjump"/>
          </p:cNvPr>
          <p:cNvSpPr/>
          <p:nvPr/>
        </p:nvSpPr>
        <p:spPr>
          <a:xfrm>
            <a:off x="4893875" y="1022275"/>
            <a:ext cx="3358500" cy="6126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5238125" y="1097725"/>
            <a:ext cx="267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Tools</a:t>
            </a: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31">
            <a:hlinkClick r:id="rId5" action="ppaction://hlinksldjump"/>
          </p:cNvPr>
          <p:cNvSpPr/>
          <p:nvPr/>
        </p:nvSpPr>
        <p:spPr>
          <a:xfrm>
            <a:off x="4893875" y="1846750"/>
            <a:ext cx="3358500" cy="6126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31"/>
          <p:cNvSpPr txBox="1"/>
          <p:nvPr/>
        </p:nvSpPr>
        <p:spPr>
          <a:xfrm>
            <a:off x="5238125" y="1922200"/>
            <a:ext cx="267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Dataset</a:t>
            </a: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p31">
            <a:hlinkClick r:id="rId6" action="ppaction://hlinksldjump"/>
          </p:cNvPr>
          <p:cNvSpPr/>
          <p:nvPr/>
        </p:nvSpPr>
        <p:spPr>
          <a:xfrm>
            <a:off x="4893875" y="2671225"/>
            <a:ext cx="3358500" cy="6126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31"/>
          <p:cNvSpPr txBox="1"/>
          <p:nvPr/>
        </p:nvSpPr>
        <p:spPr>
          <a:xfrm>
            <a:off x="5238125" y="2746675"/>
            <a:ext cx="267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Preprocessing+Cleaning</a:t>
            </a:r>
            <a:endParaRPr sz="1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31">
            <a:hlinkClick r:id="rId7" action="ppaction://hlinksldjump"/>
          </p:cNvPr>
          <p:cNvSpPr/>
          <p:nvPr/>
        </p:nvSpPr>
        <p:spPr>
          <a:xfrm>
            <a:off x="4893875" y="3495700"/>
            <a:ext cx="3358500" cy="6126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5238125" y="3571150"/>
            <a:ext cx="267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4893875" y="4320175"/>
            <a:ext cx="3358500" cy="6126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5238125" y="4395625"/>
            <a:ext cx="267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Kesimpulan</a:t>
            </a: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31"/>
          <p:cNvSpPr/>
          <p:nvPr/>
        </p:nvSpPr>
        <p:spPr>
          <a:xfrm>
            <a:off x="711050" y="647975"/>
            <a:ext cx="2919600" cy="14535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Apa saja yang akan dibahas?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7" name="Google Shape;277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0050" y="1424475"/>
            <a:ext cx="912001" cy="310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32">
            <a:hlinkClick r:id="rId3" action="ppaction://hlinksldjump"/>
          </p:cNvPr>
          <p:cNvSpPr/>
          <p:nvPr/>
        </p:nvSpPr>
        <p:spPr>
          <a:xfrm>
            <a:off x="1596000" y="204225"/>
            <a:ext cx="5619900" cy="10740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Business Understanding</a:t>
            </a:r>
            <a:endParaRPr sz="36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5" name="Google Shape;28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350" y="1554187"/>
            <a:ext cx="1754887" cy="175488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2"/>
          <p:cNvSpPr txBox="1"/>
          <p:nvPr/>
        </p:nvSpPr>
        <p:spPr>
          <a:xfrm>
            <a:off x="1648650" y="3472288"/>
            <a:ext cx="1551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konsumen lebih cenderung berbelanja dengan merek yang menyediakan rekomendasi dan penawaran yang relevan secara personal.</a:t>
            </a:r>
            <a:endParaRPr sz="1200" dirty="0"/>
          </a:p>
        </p:txBody>
      </p:sp>
      <p:sp>
        <p:nvSpPr>
          <p:cNvPr id="287" name="Google Shape;287;p32"/>
          <p:cNvSpPr txBox="1"/>
          <p:nvPr/>
        </p:nvSpPr>
        <p:spPr>
          <a:xfrm>
            <a:off x="120975" y="3517338"/>
            <a:ext cx="1709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91%</a:t>
            </a:r>
            <a:endParaRPr sz="5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8" name="Google Shape;28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4749" y="1848575"/>
            <a:ext cx="2213228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2"/>
          <p:cNvSpPr txBox="1"/>
          <p:nvPr/>
        </p:nvSpPr>
        <p:spPr>
          <a:xfrm>
            <a:off x="3361363" y="4369088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dalam skenario pengawasan yang kompleks.</a:t>
            </a:r>
            <a:endParaRPr sz="900"/>
          </a:p>
        </p:txBody>
      </p:sp>
      <p:sp>
        <p:nvSpPr>
          <p:cNvPr id="290" name="Google Shape;290;p32"/>
          <p:cNvSpPr txBox="1"/>
          <p:nvPr/>
        </p:nvSpPr>
        <p:spPr>
          <a:xfrm>
            <a:off x="3862988" y="3578988"/>
            <a:ext cx="3196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20-30%</a:t>
            </a:r>
            <a:endParaRPr sz="4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1" name="Google Shape;291;p32"/>
          <p:cNvSpPr txBox="1"/>
          <p:nvPr/>
        </p:nvSpPr>
        <p:spPr>
          <a:xfrm>
            <a:off x="3361350" y="3389088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akurasi sistem pengenalan wajah</a:t>
            </a:r>
            <a:endParaRPr/>
          </a:p>
        </p:txBody>
      </p:sp>
      <p:sp>
        <p:nvSpPr>
          <p:cNvPr id="292" name="Google Shape;292;p32"/>
          <p:cNvSpPr/>
          <p:nvPr/>
        </p:nvSpPr>
        <p:spPr>
          <a:xfrm>
            <a:off x="3335725" y="3662488"/>
            <a:ext cx="673200" cy="6354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6AA84F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3" name="Google Shape;29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7600" y="1517163"/>
            <a:ext cx="1933850" cy="182893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2"/>
          <p:cNvSpPr txBox="1"/>
          <p:nvPr/>
        </p:nvSpPr>
        <p:spPr>
          <a:xfrm>
            <a:off x="6444500" y="3633838"/>
            <a:ext cx="2586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GII Research (2024) memprediksi pasar biometrik global akan tumbuh hingga </a:t>
            </a:r>
            <a:r>
              <a:rPr lang="en" sz="3300" b="1" dirty="0">
                <a:solidFill>
                  <a:srgbClr val="666666"/>
                </a:solidFill>
              </a:rPr>
              <a:t>$83,23</a:t>
            </a:r>
            <a:r>
              <a:rPr lang="en" sz="3300" dirty="0"/>
              <a:t> </a:t>
            </a:r>
            <a:endParaRPr sz="900" dirty="0"/>
          </a:p>
        </p:txBody>
      </p:sp>
      <p:sp>
        <p:nvSpPr>
          <p:cNvPr id="295" name="Google Shape;295;p32"/>
          <p:cNvSpPr txBox="1"/>
          <p:nvPr/>
        </p:nvSpPr>
        <p:spPr>
          <a:xfrm>
            <a:off x="7790900" y="4130663"/>
            <a:ext cx="124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miliar pada 2028</a:t>
            </a:r>
            <a:endParaRPr/>
          </a:p>
        </p:txBody>
      </p:sp>
      <p:pic>
        <p:nvPicPr>
          <p:cNvPr id="296" name="Google Shape;296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/>
      <p:bldP spid="287" grpId="0"/>
      <p:bldP spid="289" grpId="0"/>
      <p:bldP spid="290" grpId="0"/>
      <p:bldP spid="291" grpId="0"/>
      <p:bldP spid="292" grpId="0" animBg="1"/>
      <p:bldP spid="294" grpId="0"/>
      <p:bldP spid="29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2698DED7-50E3-72AE-5172-147B295D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Placeholder 41">
            <a:extLst>
              <a:ext uri="{FF2B5EF4-FFF2-40B4-BE49-F238E27FC236}">
                <a16:creationId xmlns:a16="http://schemas.microsoft.com/office/drawing/2014/main" id="{25A8B98C-4C15-C2A5-D2F2-08E4227733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388" r="9388"/>
          <a:stretch>
            <a:fillRect/>
          </a:stretch>
        </p:blipFill>
        <p:spPr>
          <a:xfrm>
            <a:off x="7739216" y="1066801"/>
            <a:ext cx="1812925" cy="2232660"/>
          </a:xfrm>
        </p:spPr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7B61834B-56DB-4AA9-D170-CBE068C66A7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/>
          <a:srcRect l="6248" r="6248"/>
          <a:stretch>
            <a:fillRect/>
          </a:stretch>
        </p:blipFill>
        <p:spPr>
          <a:xfrm>
            <a:off x="3776816" y="1066801"/>
            <a:ext cx="1812925" cy="2232660"/>
          </a:xfrm>
        </p:spPr>
      </p:pic>
      <p:pic>
        <p:nvPicPr>
          <p:cNvPr id="58" name="Picture Placeholder 57">
            <a:extLst>
              <a:ext uri="{FF2B5EF4-FFF2-40B4-BE49-F238E27FC236}">
                <a16:creationId xmlns:a16="http://schemas.microsoft.com/office/drawing/2014/main" id="{DD504B11-8EC7-901F-4F5D-BA1DA024380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711" t="-4055" r="4711" b="-4055"/>
          <a:stretch/>
        </p:blipFill>
        <p:spPr>
          <a:xfrm>
            <a:off x="11658071" y="1066801"/>
            <a:ext cx="1812925" cy="2232660"/>
          </a:xfrm>
        </p:spPr>
      </p:pic>
      <p:pic>
        <p:nvPicPr>
          <p:cNvPr id="60" name="Picture Placeholder 59">
            <a:extLst>
              <a:ext uri="{FF2B5EF4-FFF2-40B4-BE49-F238E27FC236}">
                <a16:creationId xmlns:a16="http://schemas.microsoft.com/office/drawing/2014/main" id="{930FCFAF-1E84-6B63-E5DE-B31B23FB9C2B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6" r="-3155" b="-4930"/>
          <a:stretch/>
        </p:blipFill>
        <p:spPr>
          <a:xfrm>
            <a:off x="13628385" y="956733"/>
            <a:ext cx="4445000" cy="2342728"/>
          </a:xfrm>
        </p:spPr>
      </p:pic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89A74E6A-5394-E895-3AE3-830F7CFC7AE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341" t="-13017" r="-1" b="-5641"/>
          <a:stretch/>
        </p:blipFill>
        <p:spPr>
          <a:xfrm>
            <a:off x="9720416" y="1066801"/>
            <a:ext cx="1812925" cy="2232660"/>
          </a:xfrm>
        </p:spPr>
      </p:pic>
      <p:pic>
        <p:nvPicPr>
          <p:cNvPr id="56" name="Picture Placeholder 55">
            <a:extLst>
              <a:ext uri="{FF2B5EF4-FFF2-40B4-BE49-F238E27FC236}">
                <a16:creationId xmlns:a16="http://schemas.microsoft.com/office/drawing/2014/main" id="{45A7A1F9-E500-6360-6D22-A0EFEDA9D1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-11558" r="-601" b="-11558"/>
          <a:stretch/>
        </p:blipFill>
        <p:spPr>
          <a:xfrm>
            <a:off x="5747129" y="1066801"/>
            <a:ext cx="1823812" cy="2232660"/>
          </a:xfrm>
        </p:spPr>
      </p:pic>
      <p:sp>
        <p:nvSpPr>
          <p:cNvPr id="416" name="Rectangle: Rounded Corners 415">
            <a:hlinkClick r:id="rId9" action="ppaction://hlinksldjump"/>
            <a:extLst>
              <a:ext uri="{FF2B5EF4-FFF2-40B4-BE49-F238E27FC236}">
                <a16:creationId xmlns:a16="http://schemas.microsoft.com/office/drawing/2014/main" id="{E71F05C0-8B55-91A8-7E72-9D9BE1068376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Tools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17" name="Rectangle: Rounded Corners 416">
            <a:extLst>
              <a:ext uri="{FF2B5EF4-FFF2-40B4-BE49-F238E27FC236}">
                <a16:creationId xmlns:a16="http://schemas.microsoft.com/office/drawing/2014/main" id="{9C85A93C-3D3B-1C73-8B79-4CF6429BC6B8}"/>
              </a:ext>
            </a:extLst>
          </p:cNvPr>
          <p:cNvSpPr/>
          <p:nvPr/>
        </p:nvSpPr>
        <p:spPr>
          <a:xfrm>
            <a:off x="3098800" y="3462866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Numpy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21" name="Graphic 420" descr="Line arrow: Straigh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4D56260-91E0-001B-EC00-6C0E93887D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84400" y="3251199"/>
            <a:ext cx="914400" cy="914400"/>
          </a:xfrm>
          <a:prstGeom prst="rect">
            <a:avLst/>
          </a:prstGeom>
        </p:spPr>
      </p:pic>
      <p:pic>
        <p:nvPicPr>
          <p:cNvPr id="422" name="Graphic 421" descr="Line arrow: Straigh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1E160CE-9509-B694-ABF3-F34EE98BD1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6138333" y="3251199"/>
            <a:ext cx="914400" cy="914400"/>
          </a:xfrm>
          <a:prstGeom prst="rect">
            <a:avLst/>
          </a:prstGeom>
        </p:spPr>
      </p:pic>
      <p:sp>
        <p:nvSpPr>
          <p:cNvPr id="424" name="TextBox 423">
            <a:extLst>
              <a:ext uri="{FF2B5EF4-FFF2-40B4-BE49-F238E27FC236}">
                <a16:creationId xmlns:a16="http://schemas.microsoft.com/office/drawing/2014/main" id="{6E7970C9-10B8-EC4C-F73B-52F768D7D93D}"/>
              </a:ext>
            </a:extLst>
          </p:cNvPr>
          <p:cNvSpPr txBox="1"/>
          <p:nvPr/>
        </p:nvSpPr>
        <p:spPr>
          <a:xfrm>
            <a:off x="1280583" y="4117338"/>
            <a:ext cx="10629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800" dirty="0"/>
              <a:t>Untuk manipulasi dan pemrosesan data numerik dalam gambar.</a:t>
            </a:r>
            <a:endParaRPr lang="en-US" sz="1800" dirty="0"/>
          </a:p>
        </p:txBody>
      </p:sp>
      <p:pic>
        <p:nvPicPr>
          <p:cNvPr id="425" name="Google Shape;278;p31">
            <a:extLst>
              <a:ext uri="{FF2B5EF4-FFF2-40B4-BE49-F238E27FC236}">
                <a16:creationId xmlns:a16="http://schemas.microsoft.com/office/drawing/2014/main" id="{44898CB2-F264-137E-B64A-107591CB0A03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0721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8328C45A-0604-B5AB-B8CE-4783F51E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Placeholder 41">
            <a:extLst>
              <a:ext uri="{FF2B5EF4-FFF2-40B4-BE49-F238E27FC236}">
                <a16:creationId xmlns:a16="http://schemas.microsoft.com/office/drawing/2014/main" id="{B31E24E8-B322-EE7B-155D-3E4CAD9EF6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388" r="9388"/>
          <a:stretch>
            <a:fillRect/>
          </a:stretch>
        </p:blipFill>
        <p:spPr>
          <a:xfrm>
            <a:off x="5785833" y="1066801"/>
            <a:ext cx="1812925" cy="2232660"/>
          </a:xfrm>
        </p:spPr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F40DA17E-9850-1EDD-80FA-D084265707B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248" r="6248"/>
          <a:stretch>
            <a:fillRect/>
          </a:stretch>
        </p:blipFill>
        <p:spPr>
          <a:xfrm>
            <a:off x="1823433" y="1066801"/>
            <a:ext cx="1812925" cy="2232660"/>
          </a:xfrm>
        </p:spPr>
      </p:pic>
      <p:pic>
        <p:nvPicPr>
          <p:cNvPr id="58" name="Picture Placeholder 57">
            <a:extLst>
              <a:ext uri="{FF2B5EF4-FFF2-40B4-BE49-F238E27FC236}">
                <a16:creationId xmlns:a16="http://schemas.microsoft.com/office/drawing/2014/main" id="{88D4E992-401C-55A3-34E3-62F5C34053E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711" t="-4055" r="4711" b="-4055"/>
          <a:stretch/>
        </p:blipFill>
        <p:spPr>
          <a:xfrm>
            <a:off x="9704688" y="1066801"/>
            <a:ext cx="1812925" cy="2232660"/>
          </a:xfrm>
        </p:spPr>
      </p:pic>
      <p:pic>
        <p:nvPicPr>
          <p:cNvPr id="60" name="Picture Placeholder 59">
            <a:extLst>
              <a:ext uri="{FF2B5EF4-FFF2-40B4-BE49-F238E27FC236}">
                <a16:creationId xmlns:a16="http://schemas.microsoft.com/office/drawing/2014/main" id="{3A4E1ECC-0108-B12A-2EA9-B5B450A5479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6" r="-3155" b="-4930"/>
          <a:stretch/>
        </p:blipFill>
        <p:spPr>
          <a:xfrm>
            <a:off x="11675002" y="956733"/>
            <a:ext cx="4445000" cy="2342728"/>
          </a:xfrm>
        </p:spPr>
      </p:pic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2320342A-3C1E-0A20-FFC8-0866B8C391C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341" t="-13017" r="-1" b="-5641"/>
          <a:stretch/>
        </p:blipFill>
        <p:spPr>
          <a:xfrm>
            <a:off x="7767033" y="1066801"/>
            <a:ext cx="1812925" cy="2232660"/>
          </a:xfrm>
        </p:spPr>
      </p:pic>
      <p:pic>
        <p:nvPicPr>
          <p:cNvPr id="56" name="Picture Placeholder 55">
            <a:extLst>
              <a:ext uri="{FF2B5EF4-FFF2-40B4-BE49-F238E27FC236}">
                <a16:creationId xmlns:a16="http://schemas.microsoft.com/office/drawing/2014/main" id="{0C95D6CB-93F1-0576-C3FB-92EACB8EC8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8"/>
          <a:srcRect t="-11558" r="-601" b="-11558"/>
          <a:stretch/>
        </p:blipFill>
        <p:spPr>
          <a:xfrm>
            <a:off x="3793746" y="1066801"/>
            <a:ext cx="1823812" cy="2232660"/>
          </a:xfr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3F3E6B-DCF9-A799-C087-B38258C4137A}"/>
              </a:ext>
            </a:extLst>
          </p:cNvPr>
          <p:cNvSpPr/>
          <p:nvPr/>
        </p:nvSpPr>
        <p:spPr>
          <a:xfrm>
            <a:off x="3098800" y="3462866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Matplotlib</a:t>
            </a:r>
          </a:p>
        </p:txBody>
      </p:sp>
      <p:pic>
        <p:nvPicPr>
          <p:cNvPr id="13" name="Graphic 12" descr="Line arrow: Straigh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FE782BA-A977-CF58-948E-12429A6ABA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84400" y="3251199"/>
            <a:ext cx="914400" cy="914400"/>
          </a:xfrm>
          <a:prstGeom prst="rect">
            <a:avLst/>
          </a:prstGeom>
        </p:spPr>
      </p:pic>
      <p:pic>
        <p:nvPicPr>
          <p:cNvPr id="14" name="Graphic 13" descr="Line arrow: Straigh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B57E81-7779-3B9D-6E32-4EAFA21E3A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6138333" y="3251199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6DF873-B747-6DAE-810A-FE0BCB5F9F68}"/>
              </a:ext>
            </a:extLst>
          </p:cNvPr>
          <p:cNvSpPr txBox="1"/>
          <p:nvPr/>
        </p:nvSpPr>
        <p:spPr>
          <a:xfrm>
            <a:off x="1377345" y="4129098"/>
            <a:ext cx="10629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memvisualisasikan</a:t>
            </a:r>
            <a:r>
              <a:rPr lang="en-US" sz="1800" dirty="0"/>
              <a:t> </a:t>
            </a:r>
            <a:r>
              <a:rPr lang="en-US" sz="1800" dirty="0" err="1"/>
              <a:t>gambar</a:t>
            </a:r>
            <a:r>
              <a:rPr lang="en-US" sz="1800" dirty="0"/>
              <a:t> dan </a:t>
            </a:r>
            <a:r>
              <a:rPr lang="en-US" sz="1800" dirty="0" err="1"/>
              <a:t>hasil</a:t>
            </a:r>
            <a:r>
              <a:rPr lang="en-US" sz="1800" dirty="0"/>
              <a:t> </a:t>
            </a:r>
            <a:r>
              <a:rPr lang="en-US" sz="1800" dirty="0" err="1"/>
              <a:t>pemrosesan</a:t>
            </a:r>
            <a:r>
              <a:rPr lang="en-US" sz="1800" dirty="0"/>
              <a:t> </a:t>
            </a:r>
            <a:r>
              <a:rPr lang="en-US" sz="1800" dirty="0" err="1"/>
              <a:t>citra</a:t>
            </a:r>
            <a:r>
              <a:rPr lang="en-US" sz="1800" dirty="0"/>
              <a:t>.</a:t>
            </a:r>
            <a:endParaRPr lang="en-US" dirty="0"/>
          </a:p>
        </p:txBody>
      </p:sp>
      <p:pic>
        <p:nvPicPr>
          <p:cNvPr id="16" name="Google Shape;278;p31">
            <a:extLst>
              <a:ext uri="{FF2B5EF4-FFF2-40B4-BE49-F238E27FC236}">
                <a16:creationId xmlns:a16="http://schemas.microsoft.com/office/drawing/2014/main" id="{DA7027A5-4E70-96A6-2DB0-B49904664B89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: Rounded Corners 16">
            <a:hlinkClick r:id="rId12" action="ppaction://hlinksldjump"/>
            <a:extLst>
              <a:ext uri="{FF2B5EF4-FFF2-40B4-BE49-F238E27FC236}">
                <a16:creationId xmlns:a16="http://schemas.microsoft.com/office/drawing/2014/main" id="{DEB0DA63-EF85-468C-CDA0-86880BE9B0E4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Tools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317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FBAFD8B4-9ED2-4F4D-C4B9-8B0873487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Placeholder 41">
            <a:extLst>
              <a:ext uri="{FF2B5EF4-FFF2-40B4-BE49-F238E27FC236}">
                <a16:creationId xmlns:a16="http://schemas.microsoft.com/office/drawing/2014/main" id="{0CD3C312-1DF2-EBED-D919-6AC0506E05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9388" r="9388"/>
          <a:stretch>
            <a:fillRect/>
          </a:stretch>
        </p:blipFill>
        <p:spPr>
          <a:xfrm>
            <a:off x="3798583" y="1066801"/>
            <a:ext cx="1812925" cy="2232660"/>
          </a:xfrm>
        </p:spPr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1D16D804-8CF7-31B8-2004-51EDFA679CD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248" r="6248"/>
          <a:stretch>
            <a:fillRect/>
          </a:stretch>
        </p:blipFill>
        <p:spPr>
          <a:xfrm>
            <a:off x="-163817" y="1066801"/>
            <a:ext cx="1812925" cy="2232660"/>
          </a:xfrm>
        </p:spPr>
      </p:pic>
      <p:pic>
        <p:nvPicPr>
          <p:cNvPr id="58" name="Picture Placeholder 57">
            <a:extLst>
              <a:ext uri="{FF2B5EF4-FFF2-40B4-BE49-F238E27FC236}">
                <a16:creationId xmlns:a16="http://schemas.microsoft.com/office/drawing/2014/main" id="{0997D653-FCEA-1BA1-33CC-FF534865510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711" t="-4055" r="4711" b="-4055"/>
          <a:stretch/>
        </p:blipFill>
        <p:spPr>
          <a:xfrm>
            <a:off x="7717438" y="1066801"/>
            <a:ext cx="1812925" cy="2232660"/>
          </a:xfrm>
        </p:spPr>
      </p:pic>
      <p:pic>
        <p:nvPicPr>
          <p:cNvPr id="60" name="Picture Placeholder 59">
            <a:extLst>
              <a:ext uri="{FF2B5EF4-FFF2-40B4-BE49-F238E27FC236}">
                <a16:creationId xmlns:a16="http://schemas.microsoft.com/office/drawing/2014/main" id="{528175ED-C1CC-94E9-6850-074CECF7BC7B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6" r="-3155" b="-4930"/>
          <a:stretch/>
        </p:blipFill>
        <p:spPr>
          <a:xfrm>
            <a:off x="9687752" y="956733"/>
            <a:ext cx="4445000" cy="2342728"/>
          </a:xfrm>
        </p:spPr>
      </p:pic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EF524AB8-E610-E58F-5E0A-59F1E3F6DA1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341" t="-13017" r="-1" b="-5641"/>
          <a:stretch/>
        </p:blipFill>
        <p:spPr>
          <a:xfrm>
            <a:off x="5779783" y="1066801"/>
            <a:ext cx="1812925" cy="2232660"/>
          </a:xfrm>
        </p:spPr>
      </p:pic>
      <p:pic>
        <p:nvPicPr>
          <p:cNvPr id="56" name="Picture Placeholder 55">
            <a:extLst>
              <a:ext uri="{FF2B5EF4-FFF2-40B4-BE49-F238E27FC236}">
                <a16:creationId xmlns:a16="http://schemas.microsoft.com/office/drawing/2014/main" id="{3169ACB4-05A4-D94D-1959-73E1991EF19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-11558" r="-601" b="-11558"/>
          <a:stretch/>
        </p:blipFill>
        <p:spPr>
          <a:xfrm>
            <a:off x="1806496" y="1066801"/>
            <a:ext cx="1823812" cy="2232660"/>
          </a:xfr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7AB325-FD27-8606-E037-9AE913C7D9F0}"/>
              </a:ext>
            </a:extLst>
          </p:cNvPr>
          <p:cNvSpPr/>
          <p:nvPr/>
        </p:nvSpPr>
        <p:spPr>
          <a:xfrm>
            <a:off x="3098800" y="3462866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Pandas</a:t>
            </a:r>
          </a:p>
        </p:txBody>
      </p:sp>
      <p:pic>
        <p:nvPicPr>
          <p:cNvPr id="12" name="Graphic 11" descr="Line arrow: Straigh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7FF9FAB-481C-F8DA-B621-DE9BAD1527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84400" y="3251199"/>
            <a:ext cx="914400" cy="914400"/>
          </a:xfrm>
          <a:prstGeom prst="rect">
            <a:avLst/>
          </a:prstGeom>
        </p:spPr>
      </p:pic>
      <p:pic>
        <p:nvPicPr>
          <p:cNvPr id="13" name="Graphic 12" descr="Line arrow: Straigh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84DE980-1182-59EB-511E-AF6FAC58C5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6138333" y="3251199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04D8C6-F62D-C3A4-115F-F4AA27636AFD}"/>
              </a:ext>
            </a:extLst>
          </p:cNvPr>
          <p:cNvSpPr txBox="1"/>
          <p:nvPr/>
        </p:nvSpPr>
        <p:spPr>
          <a:xfrm>
            <a:off x="558800" y="4117338"/>
            <a:ext cx="9402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Membantu</a:t>
            </a:r>
            <a:r>
              <a:rPr lang="en-US" sz="1800" dirty="0"/>
              <a:t> </a:t>
            </a:r>
            <a:r>
              <a:rPr lang="en-US" sz="1800" dirty="0" err="1"/>
              <a:t>mengelola</a:t>
            </a:r>
            <a:r>
              <a:rPr lang="en-US" sz="1800" dirty="0"/>
              <a:t> metadata dan </a:t>
            </a:r>
            <a:r>
              <a:rPr lang="en-US" sz="1800" dirty="0" err="1"/>
              <a:t>informasi</a:t>
            </a:r>
            <a:r>
              <a:rPr lang="en-US" sz="1800" dirty="0"/>
              <a:t> </a:t>
            </a:r>
            <a:r>
              <a:rPr lang="en-US" sz="1800" dirty="0" err="1"/>
              <a:t>terkait</a:t>
            </a:r>
            <a:r>
              <a:rPr lang="en-US" sz="1800" dirty="0"/>
              <a:t> </a:t>
            </a:r>
            <a:r>
              <a:rPr lang="en-US" sz="1800" dirty="0" err="1"/>
              <a:t>gambar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bentuk</a:t>
            </a:r>
            <a:r>
              <a:rPr lang="en-US" sz="1800" dirty="0"/>
              <a:t> </a:t>
            </a:r>
            <a:r>
              <a:rPr lang="en-US" sz="1800" dirty="0" err="1"/>
              <a:t>tabel</a:t>
            </a:r>
            <a:r>
              <a:rPr lang="en-US" sz="1800" dirty="0"/>
              <a:t>.</a:t>
            </a:r>
          </a:p>
        </p:txBody>
      </p:sp>
      <p:pic>
        <p:nvPicPr>
          <p:cNvPr id="17" name="Google Shape;278;p31">
            <a:extLst>
              <a:ext uri="{FF2B5EF4-FFF2-40B4-BE49-F238E27FC236}">
                <a16:creationId xmlns:a16="http://schemas.microsoft.com/office/drawing/2014/main" id="{A1200D44-F44D-0D7D-AEBD-98F9F6185659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: Rounded Corners 17">
            <a:hlinkClick r:id="rId12" action="ppaction://hlinksldjump"/>
            <a:extLst>
              <a:ext uri="{FF2B5EF4-FFF2-40B4-BE49-F238E27FC236}">
                <a16:creationId xmlns:a16="http://schemas.microsoft.com/office/drawing/2014/main" id="{9608DF20-AE8A-175D-6702-572FF24B8494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Tools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242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DCAB5FBB-1EDE-BB29-D775-785F051D7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Placeholder 41">
            <a:extLst>
              <a:ext uri="{FF2B5EF4-FFF2-40B4-BE49-F238E27FC236}">
                <a16:creationId xmlns:a16="http://schemas.microsoft.com/office/drawing/2014/main" id="{4515FDF8-F5F5-5049-61CE-5DDE4C6370D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388" r="9388"/>
          <a:stretch>
            <a:fillRect/>
          </a:stretch>
        </p:blipFill>
        <p:spPr>
          <a:xfrm>
            <a:off x="1812546" y="1066801"/>
            <a:ext cx="1812925" cy="2232660"/>
          </a:xfrm>
        </p:spPr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9A1D0D4A-F2D7-955D-5E22-C8FCEF4A6B6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248" r="6248"/>
          <a:stretch>
            <a:fillRect/>
          </a:stretch>
        </p:blipFill>
        <p:spPr>
          <a:xfrm>
            <a:off x="-2149854" y="1066801"/>
            <a:ext cx="1812925" cy="2232660"/>
          </a:xfrm>
        </p:spPr>
      </p:pic>
      <p:pic>
        <p:nvPicPr>
          <p:cNvPr id="58" name="Picture Placeholder 57">
            <a:extLst>
              <a:ext uri="{FF2B5EF4-FFF2-40B4-BE49-F238E27FC236}">
                <a16:creationId xmlns:a16="http://schemas.microsoft.com/office/drawing/2014/main" id="{431BDD42-33A2-6CE5-068B-D645B5C7A25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711" t="-4055" r="4711" b="-4055"/>
          <a:stretch/>
        </p:blipFill>
        <p:spPr>
          <a:xfrm>
            <a:off x="5731401" y="1066801"/>
            <a:ext cx="1812925" cy="2232660"/>
          </a:xfrm>
        </p:spPr>
      </p:pic>
      <p:pic>
        <p:nvPicPr>
          <p:cNvPr id="60" name="Picture Placeholder 59">
            <a:extLst>
              <a:ext uri="{FF2B5EF4-FFF2-40B4-BE49-F238E27FC236}">
                <a16:creationId xmlns:a16="http://schemas.microsoft.com/office/drawing/2014/main" id="{570CA81C-F636-A0AD-1BE2-7A05D83360FD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6" r="-3155" b="-4930"/>
          <a:stretch/>
        </p:blipFill>
        <p:spPr>
          <a:xfrm>
            <a:off x="7701715" y="956733"/>
            <a:ext cx="4445000" cy="2342728"/>
          </a:xfrm>
        </p:spPr>
      </p:pic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3F7847CE-56D5-EB82-76D0-30B716FC699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/>
          <a:srcRect l="-3341" t="-13017" r="-1" b="-5641"/>
          <a:stretch/>
        </p:blipFill>
        <p:spPr>
          <a:xfrm>
            <a:off x="3793746" y="1066801"/>
            <a:ext cx="1812925" cy="2232660"/>
          </a:xfrm>
        </p:spPr>
      </p:pic>
      <p:pic>
        <p:nvPicPr>
          <p:cNvPr id="56" name="Picture Placeholder 55">
            <a:extLst>
              <a:ext uri="{FF2B5EF4-FFF2-40B4-BE49-F238E27FC236}">
                <a16:creationId xmlns:a16="http://schemas.microsoft.com/office/drawing/2014/main" id="{60B1F0E8-88A6-7193-7CD8-F8F32BD826A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-11558" r="-601" b="-11558"/>
          <a:stretch/>
        </p:blipFill>
        <p:spPr>
          <a:xfrm>
            <a:off x="-179541" y="1066801"/>
            <a:ext cx="1823812" cy="2232660"/>
          </a:xfr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43B7AD-0540-87CE-3154-632E06E7BCFD}"/>
              </a:ext>
            </a:extLst>
          </p:cNvPr>
          <p:cNvSpPr/>
          <p:nvPr/>
        </p:nvSpPr>
        <p:spPr>
          <a:xfrm>
            <a:off x="3098800" y="3462866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Tensorflow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12" name="Graphic 11" descr="Line arrow: Straigh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DF935A3-7E9B-31B0-9DE9-E91197813E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84400" y="3251199"/>
            <a:ext cx="914400" cy="914400"/>
          </a:xfrm>
          <a:prstGeom prst="rect">
            <a:avLst/>
          </a:prstGeom>
        </p:spPr>
      </p:pic>
      <p:pic>
        <p:nvPicPr>
          <p:cNvPr id="13" name="Graphic 12" descr="Line arrow: Straigh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F599B1A-6B8E-5158-7951-22EA052C71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6138333" y="3251199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1DA1D6-226B-CB26-5F7E-47251BF6B24E}"/>
              </a:ext>
            </a:extLst>
          </p:cNvPr>
          <p:cNvSpPr txBox="1"/>
          <p:nvPr/>
        </p:nvSpPr>
        <p:spPr>
          <a:xfrm>
            <a:off x="352873" y="4129098"/>
            <a:ext cx="10629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membangun</a:t>
            </a:r>
            <a:r>
              <a:rPr lang="en-US" sz="1800" dirty="0"/>
              <a:t> dan </a:t>
            </a:r>
            <a:r>
              <a:rPr lang="en-US" sz="1800" dirty="0" err="1"/>
              <a:t>melatih</a:t>
            </a:r>
            <a:r>
              <a:rPr lang="en-US" sz="1800" dirty="0"/>
              <a:t> model deep learning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tugas</a:t>
            </a:r>
            <a:r>
              <a:rPr lang="en-US" sz="1800" dirty="0"/>
              <a:t> </a:t>
            </a:r>
            <a:r>
              <a:rPr lang="en-US" sz="1800" dirty="0" err="1"/>
              <a:t>pengolahan</a:t>
            </a:r>
            <a:r>
              <a:rPr lang="en-US" sz="1800" dirty="0"/>
              <a:t> </a:t>
            </a:r>
            <a:r>
              <a:rPr lang="en-US" sz="1800" dirty="0" err="1"/>
              <a:t>citra</a:t>
            </a:r>
            <a:r>
              <a:rPr lang="en-US" sz="1800" dirty="0"/>
              <a:t>.</a:t>
            </a:r>
            <a:endParaRPr lang="en-US" sz="1100" dirty="0"/>
          </a:p>
        </p:txBody>
      </p:sp>
      <p:pic>
        <p:nvPicPr>
          <p:cNvPr id="15" name="Google Shape;278;p31">
            <a:extLst>
              <a:ext uri="{FF2B5EF4-FFF2-40B4-BE49-F238E27FC236}">
                <a16:creationId xmlns:a16="http://schemas.microsoft.com/office/drawing/2014/main" id="{0CBD4B26-E5E4-62B3-3DB7-C2A0B321432B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: Rounded Corners 15">
            <a:hlinkClick r:id="rId12" action="ppaction://hlinksldjump"/>
            <a:extLst>
              <a:ext uri="{FF2B5EF4-FFF2-40B4-BE49-F238E27FC236}">
                <a16:creationId xmlns:a16="http://schemas.microsoft.com/office/drawing/2014/main" id="{B37F5236-027B-360D-E28C-E7749E262D03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Tools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028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7C65E920-0BBC-01F3-C745-83D79286E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Placeholder 41">
            <a:extLst>
              <a:ext uri="{FF2B5EF4-FFF2-40B4-BE49-F238E27FC236}">
                <a16:creationId xmlns:a16="http://schemas.microsoft.com/office/drawing/2014/main" id="{667775D7-B8E9-4F5C-F46A-480C9CA12B1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388" r="9388"/>
          <a:stretch>
            <a:fillRect/>
          </a:stretch>
        </p:blipFill>
        <p:spPr>
          <a:xfrm>
            <a:off x="-121499" y="1066801"/>
            <a:ext cx="1812925" cy="2232660"/>
          </a:xfrm>
        </p:spPr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9DFA49E0-9E90-8917-3024-415169431D1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248" r="6248"/>
          <a:stretch>
            <a:fillRect/>
          </a:stretch>
        </p:blipFill>
        <p:spPr>
          <a:xfrm>
            <a:off x="-4083899" y="1066801"/>
            <a:ext cx="1812925" cy="2232660"/>
          </a:xfrm>
        </p:spPr>
      </p:pic>
      <p:pic>
        <p:nvPicPr>
          <p:cNvPr id="58" name="Picture Placeholder 57">
            <a:extLst>
              <a:ext uri="{FF2B5EF4-FFF2-40B4-BE49-F238E27FC236}">
                <a16:creationId xmlns:a16="http://schemas.microsoft.com/office/drawing/2014/main" id="{52089539-7B74-EE12-9C19-97A0ED10A29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/>
          <a:srcRect l="4711" t="-4055" r="4711" b="-4055"/>
          <a:stretch/>
        </p:blipFill>
        <p:spPr>
          <a:xfrm>
            <a:off x="3797356" y="1066801"/>
            <a:ext cx="1812925" cy="2232660"/>
          </a:xfrm>
        </p:spPr>
      </p:pic>
      <p:pic>
        <p:nvPicPr>
          <p:cNvPr id="60" name="Picture Placeholder 59">
            <a:extLst>
              <a:ext uri="{FF2B5EF4-FFF2-40B4-BE49-F238E27FC236}">
                <a16:creationId xmlns:a16="http://schemas.microsoft.com/office/drawing/2014/main" id="{7533E6B2-A124-D07E-4F28-D1973DAF03F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6" r="-3155" b="-4930"/>
          <a:stretch/>
        </p:blipFill>
        <p:spPr>
          <a:xfrm>
            <a:off x="5767670" y="956733"/>
            <a:ext cx="4445000" cy="2342728"/>
          </a:xfrm>
        </p:spPr>
      </p:pic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39299A32-9FA3-83D9-5D38-22EB772D874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341" t="-13017" r="-1" b="-5641"/>
          <a:stretch/>
        </p:blipFill>
        <p:spPr>
          <a:xfrm>
            <a:off x="1859701" y="1066801"/>
            <a:ext cx="1812925" cy="2232660"/>
          </a:xfrm>
        </p:spPr>
      </p:pic>
      <p:pic>
        <p:nvPicPr>
          <p:cNvPr id="56" name="Picture Placeholder 55">
            <a:extLst>
              <a:ext uri="{FF2B5EF4-FFF2-40B4-BE49-F238E27FC236}">
                <a16:creationId xmlns:a16="http://schemas.microsoft.com/office/drawing/2014/main" id="{91264734-899C-56EE-B121-B8E51E29B43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-11558" r="-601" b="-11558"/>
          <a:stretch/>
        </p:blipFill>
        <p:spPr>
          <a:xfrm>
            <a:off x="-2113586" y="1066801"/>
            <a:ext cx="1823812" cy="2232660"/>
          </a:xfr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3042E6-C9DB-FC65-CBE4-521D6A0B8287}"/>
              </a:ext>
            </a:extLst>
          </p:cNvPr>
          <p:cNvSpPr/>
          <p:nvPr/>
        </p:nvSpPr>
        <p:spPr>
          <a:xfrm>
            <a:off x="3098800" y="3462866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Seaborn</a:t>
            </a:r>
          </a:p>
        </p:txBody>
      </p:sp>
      <p:pic>
        <p:nvPicPr>
          <p:cNvPr id="12" name="Graphic 11" descr="Line arrow: Straigh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57808DA-2165-DABD-04BB-A225AFD550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84400" y="3251199"/>
            <a:ext cx="914400" cy="914400"/>
          </a:xfrm>
          <a:prstGeom prst="rect">
            <a:avLst/>
          </a:prstGeom>
        </p:spPr>
      </p:pic>
      <p:pic>
        <p:nvPicPr>
          <p:cNvPr id="13" name="Graphic 12" descr="Line arrow: Straigh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EBE1CC-3603-5EE0-2D95-78444CDBC2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6138333" y="3251199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AC7ABC0-E33B-EFC9-DFA5-2C77AFF5EB42}"/>
              </a:ext>
            </a:extLst>
          </p:cNvPr>
          <p:cNvSpPr txBox="1"/>
          <p:nvPr/>
        </p:nvSpPr>
        <p:spPr>
          <a:xfrm>
            <a:off x="225876" y="4129098"/>
            <a:ext cx="10629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Membantu</a:t>
            </a:r>
            <a:r>
              <a:rPr lang="en-US" sz="1600" dirty="0"/>
              <a:t> </a:t>
            </a:r>
            <a:r>
              <a:rPr lang="en-US" sz="1600" dirty="0" err="1"/>
              <a:t>menganalisis</a:t>
            </a:r>
            <a:r>
              <a:rPr lang="en-US" sz="1600" dirty="0"/>
              <a:t> dan </a:t>
            </a:r>
            <a:r>
              <a:rPr lang="en-US" sz="1600" dirty="0" err="1"/>
              <a:t>menampilkan</a:t>
            </a:r>
            <a:r>
              <a:rPr lang="en-US" sz="1600" dirty="0"/>
              <a:t> </a:t>
            </a:r>
            <a:r>
              <a:rPr lang="en-US" sz="1600" dirty="0" err="1"/>
              <a:t>pola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data </a:t>
            </a:r>
            <a:r>
              <a:rPr lang="en-US" sz="1600" dirty="0" err="1"/>
              <a:t>gambar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visualisasi</a:t>
            </a:r>
            <a:r>
              <a:rPr lang="en-US" sz="1600" dirty="0"/>
              <a:t> </a:t>
            </a:r>
            <a:r>
              <a:rPr lang="en-US" sz="1600" dirty="0" err="1"/>
              <a:t>statistik</a:t>
            </a:r>
            <a:r>
              <a:rPr lang="en-US" sz="1600" dirty="0"/>
              <a:t>.</a:t>
            </a:r>
            <a:endParaRPr lang="en-US" sz="1050" dirty="0"/>
          </a:p>
        </p:txBody>
      </p:sp>
      <p:pic>
        <p:nvPicPr>
          <p:cNvPr id="15" name="Google Shape;278;p31">
            <a:extLst>
              <a:ext uri="{FF2B5EF4-FFF2-40B4-BE49-F238E27FC236}">
                <a16:creationId xmlns:a16="http://schemas.microsoft.com/office/drawing/2014/main" id="{0D9A49B2-8201-E658-7FDC-F9545BCBA9ED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: Rounded Corners 15">
            <a:hlinkClick r:id="rId12" action="ppaction://hlinksldjump"/>
            <a:extLst>
              <a:ext uri="{FF2B5EF4-FFF2-40B4-BE49-F238E27FC236}">
                <a16:creationId xmlns:a16="http://schemas.microsoft.com/office/drawing/2014/main" id="{E0748759-434F-11C6-561E-CB44E7D6B3FF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Tools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53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1815BA4A-561A-4757-FD30-372B72CF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Placeholder 41">
            <a:extLst>
              <a:ext uri="{FF2B5EF4-FFF2-40B4-BE49-F238E27FC236}">
                <a16:creationId xmlns:a16="http://schemas.microsoft.com/office/drawing/2014/main" id="{8C720525-80AD-8A21-8955-420691D984F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388" r="9388"/>
          <a:stretch>
            <a:fillRect/>
          </a:stretch>
        </p:blipFill>
        <p:spPr>
          <a:xfrm>
            <a:off x="-3539669" y="1063837"/>
            <a:ext cx="1812925" cy="2232660"/>
          </a:xfrm>
        </p:spPr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E4C96BE7-DFC9-B8B0-D55A-8360CBBA3C7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248" r="6248"/>
          <a:stretch>
            <a:fillRect/>
          </a:stretch>
        </p:blipFill>
        <p:spPr>
          <a:xfrm>
            <a:off x="-7502069" y="1063837"/>
            <a:ext cx="1812925" cy="2232660"/>
          </a:xfrm>
        </p:spPr>
      </p:pic>
      <p:pic>
        <p:nvPicPr>
          <p:cNvPr id="58" name="Picture Placeholder 57">
            <a:extLst>
              <a:ext uri="{FF2B5EF4-FFF2-40B4-BE49-F238E27FC236}">
                <a16:creationId xmlns:a16="http://schemas.microsoft.com/office/drawing/2014/main" id="{A06EB240-BF61-ED07-C866-D976F1C1D0E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711" t="-4055" r="4711" b="-4055"/>
          <a:stretch/>
        </p:blipFill>
        <p:spPr>
          <a:xfrm>
            <a:off x="379186" y="1063837"/>
            <a:ext cx="1812925" cy="2232660"/>
          </a:xfrm>
        </p:spPr>
      </p:pic>
      <p:pic>
        <p:nvPicPr>
          <p:cNvPr id="60" name="Picture Placeholder 59">
            <a:extLst>
              <a:ext uri="{FF2B5EF4-FFF2-40B4-BE49-F238E27FC236}">
                <a16:creationId xmlns:a16="http://schemas.microsoft.com/office/drawing/2014/main" id="{43822C95-82C7-A323-B22B-635CC48AC23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/>
          <a:srcRect l="-376" r="-3155" b="-4930"/>
          <a:stretch/>
        </p:blipFill>
        <p:spPr>
          <a:xfrm>
            <a:off x="2349500" y="953769"/>
            <a:ext cx="4445000" cy="2342728"/>
          </a:xfrm>
        </p:spPr>
      </p:pic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73E688F6-673B-CEF7-D26C-E36A92EB351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341" t="-13017" r="-1" b="-5641"/>
          <a:stretch/>
        </p:blipFill>
        <p:spPr>
          <a:xfrm>
            <a:off x="-1558469" y="1063837"/>
            <a:ext cx="1812925" cy="2232660"/>
          </a:xfrm>
        </p:spPr>
      </p:pic>
      <p:pic>
        <p:nvPicPr>
          <p:cNvPr id="56" name="Picture Placeholder 55">
            <a:extLst>
              <a:ext uri="{FF2B5EF4-FFF2-40B4-BE49-F238E27FC236}">
                <a16:creationId xmlns:a16="http://schemas.microsoft.com/office/drawing/2014/main" id="{D4BA7306-B273-315B-A96B-F64E5B98EBC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-11558" r="-601" b="-11558"/>
          <a:stretch/>
        </p:blipFill>
        <p:spPr>
          <a:xfrm>
            <a:off x="-5531756" y="1063837"/>
            <a:ext cx="1823812" cy="2232660"/>
          </a:xfr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71671B-C54C-6708-7AB7-94018F79E5C3}"/>
              </a:ext>
            </a:extLst>
          </p:cNvPr>
          <p:cNvSpPr/>
          <p:nvPr/>
        </p:nvSpPr>
        <p:spPr>
          <a:xfrm>
            <a:off x="3098800" y="3462866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Sklearn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12" name="Graphic 11" descr="Line arrow: Straigh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411B886-AF0C-DAA9-DC3B-C752CD5F2D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84400" y="3251199"/>
            <a:ext cx="914400" cy="914400"/>
          </a:xfrm>
          <a:prstGeom prst="rect">
            <a:avLst/>
          </a:prstGeom>
        </p:spPr>
      </p:pic>
      <p:pic>
        <p:nvPicPr>
          <p:cNvPr id="13" name="Graphic 12" descr="Line arrow: Straigh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8DB854-9DBF-DFF9-A739-C86B172F22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6138333" y="3251199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14E347-733A-A2BA-919B-908A64BA7200}"/>
              </a:ext>
            </a:extLst>
          </p:cNvPr>
          <p:cNvSpPr txBox="1"/>
          <p:nvPr/>
        </p:nvSpPr>
        <p:spPr>
          <a:xfrm>
            <a:off x="293612" y="4129098"/>
            <a:ext cx="10629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Untuk</a:t>
            </a:r>
            <a:r>
              <a:rPr lang="en-US" sz="1600" dirty="0"/>
              <a:t> preprocessing, </a:t>
            </a:r>
            <a:r>
              <a:rPr lang="en-US" sz="1600" dirty="0" err="1"/>
              <a:t>ekstraksi</a:t>
            </a:r>
            <a:r>
              <a:rPr lang="en-US" sz="1600" dirty="0"/>
              <a:t> </a:t>
            </a:r>
            <a:r>
              <a:rPr lang="en-US" sz="1600" dirty="0" err="1"/>
              <a:t>fitur</a:t>
            </a:r>
            <a:r>
              <a:rPr lang="en-US" sz="1600" dirty="0"/>
              <a:t>, dan </a:t>
            </a:r>
            <a:r>
              <a:rPr lang="en-US" sz="1600" dirty="0" err="1"/>
              <a:t>penerapan</a:t>
            </a:r>
            <a:r>
              <a:rPr lang="en-US" sz="1600" dirty="0"/>
              <a:t> </a:t>
            </a:r>
            <a:r>
              <a:rPr lang="en-US" sz="1600" dirty="0" err="1"/>
              <a:t>algoritma</a:t>
            </a:r>
            <a:r>
              <a:rPr lang="en-US" sz="1600" dirty="0"/>
              <a:t> machine learning pada </a:t>
            </a:r>
            <a:r>
              <a:rPr lang="en-US" sz="1600" dirty="0" err="1"/>
              <a:t>gambar</a:t>
            </a:r>
            <a:r>
              <a:rPr lang="en-US" sz="1600" dirty="0"/>
              <a:t>.</a:t>
            </a:r>
            <a:endParaRPr lang="en-US" sz="900" dirty="0"/>
          </a:p>
        </p:txBody>
      </p:sp>
      <p:pic>
        <p:nvPicPr>
          <p:cNvPr id="15" name="Google Shape;278;p31">
            <a:extLst>
              <a:ext uri="{FF2B5EF4-FFF2-40B4-BE49-F238E27FC236}">
                <a16:creationId xmlns:a16="http://schemas.microsoft.com/office/drawing/2014/main" id="{32D2A4F2-2B5D-0B33-7A90-AA922B72ACA4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: Rounded Corners 17">
            <a:hlinkClick r:id="rId12" action="ppaction://hlinksldjump"/>
            <a:extLst>
              <a:ext uri="{FF2B5EF4-FFF2-40B4-BE49-F238E27FC236}">
                <a16:creationId xmlns:a16="http://schemas.microsoft.com/office/drawing/2014/main" id="{2C7832D3-A8BA-1CA7-D3BD-5E7CFF309A68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Tools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5238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/>
          <p:nvPr/>
        </p:nvSpPr>
        <p:spPr>
          <a:xfrm>
            <a:off x="7500" y="-37275"/>
            <a:ext cx="9129000" cy="5226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2" name="Google Shape;3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525" y="4082363"/>
            <a:ext cx="596975" cy="5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3">
            <a:hlinkClick r:id="rId4" action="ppaction://hlinksldjump"/>
          </p:cNvPr>
          <p:cNvSpPr/>
          <p:nvPr/>
        </p:nvSpPr>
        <p:spPr>
          <a:xfrm>
            <a:off x="1966625" y="219350"/>
            <a:ext cx="4916700" cy="642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4" name="Google Shape;304;p33"/>
          <p:cNvSpPr txBox="1"/>
          <p:nvPr/>
        </p:nvSpPr>
        <p:spPr>
          <a:xfrm>
            <a:off x="2276800" y="171350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Datasets</a:t>
            </a:r>
            <a:endParaRPr sz="36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05" name="Google Shape;305;p33"/>
          <p:cNvGrpSpPr/>
          <p:nvPr/>
        </p:nvGrpSpPr>
        <p:grpSpPr>
          <a:xfrm>
            <a:off x="181525" y="1526500"/>
            <a:ext cx="2438400" cy="2438400"/>
            <a:chOff x="175100" y="1564325"/>
            <a:chExt cx="2438400" cy="2438400"/>
          </a:xfrm>
        </p:grpSpPr>
        <p:pic>
          <p:nvPicPr>
            <p:cNvPr id="306" name="Google Shape;306;p3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5100" y="1564325"/>
              <a:ext cx="2438400" cy="2438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64725" y="2670050"/>
              <a:ext cx="1110250" cy="11102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pic>
      </p:grpSp>
      <p:sp>
        <p:nvSpPr>
          <p:cNvPr id="308" name="Google Shape;308;p33"/>
          <p:cNvSpPr txBox="1"/>
          <p:nvPr/>
        </p:nvSpPr>
        <p:spPr>
          <a:xfrm>
            <a:off x="1701875" y="3745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3"/>
          <p:cNvSpPr/>
          <p:nvPr/>
        </p:nvSpPr>
        <p:spPr>
          <a:xfrm>
            <a:off x="332825" y="1036275"/>
            <a:ext cx="1709400" cy="316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76A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CelebA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33"/>
          <p:cNvSpPr/>
          <p:nvPr/>
        </p:nvSpPr>
        <p:spPr>
          <a:xfrm>
            <a:off x="181525" y="4243400"/>
            <a:ext cx="2829000" cy="6429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76A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https://mmlab.ie.cuhk.edu.hk/projects/CelebA.html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1" name="Google Shape;311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02650" y="4643616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3"/>
          <p:cNvSpPr/>
          <p:nvPr/>
        </p:nvSpPr>
        <p:spPr>
          <a:xfrm>
            <a:off x="5976650" y="1573000"/>
            <a:ext cx="2593200" cy="642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202,599 gambar wajah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33"/>
          <p:cNvSpPr/>
          <p:nvPr/>
        </p:nvSpPr>
        <p:spPr>
          <a:xfrm>
            <a:off x="3158650" y="1573000"/>
            <a:ext cx="2593200" cy="642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10,177 identitas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4" name="Google Shape;314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16474" y="686826"/>
            <a:ext cx="1219276" cy="121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54675" y="686825"/>
            <a:ext cx="1309756" cy="13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3"/>
          <p:cNvSpPr/>
          <p:nvPr/>
        </p:nvSpPr>
        <p:spPr>
          <a:xfrm>
            <a:off x="3158650" y="3029925"/>
            <a:ext cx="2593200" cy="642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40 atribut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7" name="Google Shape;317;p3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53125" y="1960749"/>
            <a:ext cx="1494223" cy="149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3"/>
          <p:cNvSpPr/>
          <p:nvPr/>
        </p:nvSpPr>
        <p:spPr>
          <a:xfrm>
            <a:off x="5976638" y="3029925"/>
            <a:ext cx="2593200" cy="642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Target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9" name="Google Shape;319;p33"/>
          <p:cNvPicPr preferRelativeResize="0"/>
          <p:nvPr/>
        </p:nvPicPr>
        <p:blipFill rotWithShape="1">
          <a:blip r:embed="rId12">
            <a:alphaModFix/>
          </a:blip>
          <a:srcRect t="-5770" b="5770"/>
          <a:stretch/>
        </p:blipFill>
        <p:spPr>
          <a:xfrm>
            <a:off x="6814550" y="2194525"/>
            <a:ext cx="917400" cy="9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2449" y="3990738"/>
            <a:ext cx="780250" cy="78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3"/>
          <p:cNvPicPr preferRelativeResize="0"/>
          <p:nvPr/>
        </p:nvPicPr>
        <p:blipFill rotWithShape="1">
          <a:blip r:embed="rId14">
            <a:alphaModFix/>
          </a:blip>
          <a:srcRect t="6220" b="-6220"/>
          <a:stretch/>
        </p:blipFill>
        <p:spPr>
          <a:xfrm>
            <a:off x="4648250" y="3851914"/>
            <a:ext cx="1060924" cy="10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3"/>
          <p:cNvSpPr txBox="1"/>
          <p:nvPr/>
        </p:nvSpPr>
        <p:spPr>
          <a:xfrm>
            <a:off x="3329650" y="4679350"/>
            <a:ext cx="50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Alis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33"/>
          <p:cNvSpPr txBox="1"/>
          <p:nvPr/>
        </p:nvSpPr>
        <p:spPr>
          <a:xfrm>
            <a:off x="4004175" y="4684850"/>
            <a:ext cx="73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Hidung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33"/>
          <p:cNvSpPr txBox="1"/>
          <p:nvPr/>
        </p:nvSpPr>
        <p:spPr>
          <a:xfrm>
            <a:off x="4848288" y="4684850"/>
            <a:ext cx="73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Janggut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33"/>
          <p:cNvSpPr/>
          <p:nvPr/>
        </p:nvSpPr>
        <p:spPr>
          <a:xfrm>
            <a:off x="3472000" y="3719500"/>
            <a:ext cx="222000" cy="316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" name="Google Shape;326;p33"/>
          <p:cNvSpPr/>
          <p:nvPr/>
        </p:nvSpPr>
        <p:spPr>
          <a:xfrm>
            <a:off x="4215113" y="3719500"/>
            <a:ext cx="222000" cy="316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5051150" y="3719500"/>
            <a:ext cx="222000" cy="316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8" name="Google Shape;328;p3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955738" y="3745575"/>
            <a:ext cx="708575" cy="7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/>
          <p:nvPr/>
        </p:nvSpPr>
        <p:spPr>
          <a:xfrm rot="10800000" flipH="1">
            <a:off x="7346900" y="3672825"/>
            <a:ext cx="222000" cy="6801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" name="Google Shape;330;p33"/>
          <p:cNvSpPr/>
          <p:nvPr/>
        </p:nvSpPr>
        <p:spPr>
          <a:xfrm rot="10800000">
            <a:off x="7040475" y="3672825"/>
            <a:ext cx="222000" cy="6801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6524350" y="3900050"/>
            <a:ext cx="67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=1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2" name="Google Shape;332;p3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568900" y="3803950"/>
            <a:ext cx="708550" cy="7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3"/>
          <p:cNvSpPr txBox="1"/>
          <p:nvPr/>
        </p:nvSpPr>
        <p:spPr>
          <a:xfrm>
            <a:off x="8251500" y="3900038"/>
            <a:ext cx="67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=-1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 animBg="1"/>
      <p:bldP spid="310" grpId="0" animBg="1"/>
      <p:bldP spid="312" grpId="0" animBg="1"/>
      <p:bldP spid="313" grpId="0" animBg="1"/>
      <p:bldP spid="316" grpId="0" animBg="1"/>
      <p:bldP spid="318" grpId="0" animBg="1"/>
      <p:bldP spid="322" grpId="0"/>
      <p:bldP spid="323" grpId="0"/>
      <p:bldP spid="324" grpId="0"/>
      <p:bldP spid="325" grpId="0" animBg="1"/>
      <p:bldP spid="326" grpId="0" animBg="1"/>
      <p:bldP spid="327" grpId="0" animBg="1"/>
      <p:bldP spid="329" grpId="0" animBg="1"/>
      <p:bldP spid="330" grpId="0" animBg="1"/>
      <p:bldP spid="331" grpId="0"/>
      <p:bldP spid="3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A448BCDA-9693-6735-45B2-460AC3E4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>
            <a:extLst>
              <a:ext uri="{FF2B5EF4-FFF2-40B4-BE49-F238E27FC236}">
                <a16:creationId xmlns:a16="http://schemas.microsoft.com/office/drawing/2014/main" id="{C96ADA52-520A-8BC2-4AF6-2A98A320594C}"/>
              </a:ext>
            </a:extLst>
          </p:cNvPr>
          <p:cNvSpPr/>
          <p:nvPr/>
        </p:nvSpPr>
        <p:spPr>
          <a:xfrm>
            <a:off x="7500" y="-37275"/>
            <a:ext cx="9129000" cy="5226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1" name="Google Shape;311;p33">
            <a:extLst>
              <a:ext uri="{FF2B5EF4-FFF2-40B4-BE49-F238E27FC236}">
                <a16:creationId xmlns:a16="http://schemas.microsoft.com/office/drawing/2014/main" id="{423C3031-4444-190B-D196-488D73B392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2650" y="4643616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57;p30">
            <a:extLst>
              <a:ext uri="{FF2B5EF4-FFF2-40B4-BE49-F238E27FC236}">
                <a16:creationId xmlns:a16="http://schemas.microsoft.com/office/drawing/2014/main" id="{2C664314-F9B6-53B8-D53B-DA42209116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2499" y="2161610"/>
            <a:ext cx="5347821" cy="6387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Preprocessing+Cleaning</a:t>
            </a:r>
            <a:endParaRPr sz="3600" dirty="0"/>
          </a:p>
        </p:txBody>
      </p:sp>
      <p:pic>
        <p:nvPicPr>
          <p:cNvPr id="1026" name="Picture 2" descr="Minion French Maid Sticker – Pro Sport Stickers">
            <a:extLst>
              <a:ext uri="{FF2B5EF4-FFF2-40B4-BE49-F238E27FC236}">
                <a16:creationId xmlns:a16="http://schemas.microsoft.com/office/drawing/2014/main" id="{AFCD939F-FD9E-24DD-E58C-A200D117A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727" b="89868" l="6757" r="89640">
                        <a14:foregroundMark x1="7207" y1="23348" x2="15315" y2="27313"/>
                        <a14:foregroundMark x1="52252" y1="49339" x2="59910" y2="12775"/>
                        <a14:foregroundMark x1="43243" y1="18062" x2="66216" y2="14537"/>
                        <a14:foregroundMark x1="66216" y1="14537" x2="71171" y2="18062"/>
                        <a14:foregroundMark x1="68018" y1="45815" x2="67568" y2="14978"/>
                        <a14:foregroundMark x1="67568" y1="14978" x2="67568" y2="14978"/>
                        <a14:foregroundMark x1="56306" y1="21586" x2="57207" y2="5727"/>
                        <a14:foregroundMark x1="26577" y1="38326" x2="21171" y2="26872"/>
                        <a14:foregroundMark x1="62162" y1="78855" x2="61261" y2="51542"/>
                        <a14:foregroundMark x1="61261" y1="51542" x2="60360" y2="50220"/>
                        <a14:foregroundMark x1="44144" y1="52423" x2="52252" y2="81057"/>
                        <a14:foregroundMark x1="52252" y1="65639" x2="72973" y2="51101"/>
                        <a14:foregroundMark x1="49099" y1="51101" x2="51802" y2="69163"/>
                        <a14:foregroundMark x1="48649" y1="89427" x2="56306" y2="89868"/>
                        <a14:foregroundMark x1="61712" y1="87665" x2="68018" y2="89427"/>
                        <a14:foregroundMark x1="8108" y1="31278" x2="8108" y2="339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" y="2981325"/>
            <a:ext cx="211455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06815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F14175B1-418A-DC86-0EF0-DE3FE6E80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0301E27C-C24F-FFA5-2B5D-915A332CF39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32">
            <a:extLst>
              <a:ext uri="{FF2B5EF4-FFF2-40B4-BE49-F238E27FC236}">
                <a16:creationId xmlns:a16="http://schemas.microsoft.com/office/drawing/2014/main" id="{E5DAD65E-DB1A-4721-DC8C-6DA39F3FB8E7}"/>
              </a:ext>
            </a:extLst>
          </p:cNvPr>
          <p:cNvSpPr/>
          <p:nvPr/>
        </p:nvSpPr>
        <p:spPr>
          <a:xfrm>
            <a:off x="1596000" y="204225"/>
            <a:ext cx="5619900" cy="10740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Workflow</a:t>
            </a:r>
            <a:endParaRPr sz="36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6" name="Google Shape;296;p32">
            <a:extLst>
              <a:ext uri="{FF2B5EF4-FFF2-40B4-BE49-F238E27FC236}">
                <a16:creationId xmlns:a16="http://schemas.microsoft.com/office/drawing/2014/main" id="{CEAB3346-D470-65EF-084C-3AC7A83893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5CE5073-45B3-E3A2-F5AA-258A564AFB2E}"/>
              </a:ext>
            </a:extLst>
          </p:cNvPr>
          <p:cNvSpPr/>
          <p:nvPr/>
        </p:nvSpPr>
        <p:spPr>
          <a:xfrm>
            <a:off x="682953" y="1773227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Drop duplicate</a:t>
            </a:r>
          </a:p>
        </p:txBody>
      </p:sp>
      <p:pic>
        <p:nvPicPr>
          <p:cNvPr id="2050" name="Picture 2" descr="Duplicate Icon Images – Browse 49,536 ...">
            <a:extLst>
              <a:ext uri="{FF2B5EF4-FFF2-40B4-BE49-F238E27FC236}">
                <a16:creationId xmlns:a16="http://schemas.microsoft.com/office/drawing/2014/main" id="{ADB5F20A-083E-0BBF-D969-80C84AE62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3111" y1="28444" x2="57778" y2="68444"/>
                        <a14:foregroundMark x1="24444" y1="63111" x2="32889" y2="35556"/>
                        <a14:foregroundMark x1="32889" y1="35556" x2="43111" y2="26222"/>
                        <a14:foregroundMark x1="54222" y1="52444" x2="67111" y2="72889"/>
                        <a14:foregroundMark x1="52000" y1="74667" x2="58667" y2="73333"/>
                        <a14:foregroundMark x1="64889" y1="47111" x2="57333" y2="68444"/>
                        <a14:foregroundMark x1="52889" y1="41333" x2="76444" y2="42222"/>
                        <a14:foregroundMark x1="70667" y1="60000" x2="73333" y2="72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95" y="1203508"/>
            <a:ext cx="1139437" cy="113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618DC041-AFF6-C3B8-ED49-896D29873C0F}"/>
              </a:ext>
            </a:extLst>
          </p:cNvPr>
          <p:cNvSpPr/>
          <p:nvPr/>
        </p:nvSpPr>
        <p:spPr>
          <a:xfrm>
            <a:off x="3416855" y="1773227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Encoding</a:t>
            </a:r>
          </a:p>
        </p:txBody>
      </p:sp>
      <p:pic>
        <p:nvPicPr>
          <p:cNvPr id="18" name="Google Shape;328;p33">
            <a:extLst>
              <a:ext uri="{FF2B5EF4-FFF2-40B4-BE49-F238E27FC236}">
                <a16:creationId xmlns:a16="http://schemas.microsoft.com/office/drawing/2014/main" id="{C94BD169-3CC3-B247-9C34-FAF9DED6EED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8180" y="2890187"/>
            <a:ext cx="708575" cy="7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330;p33">
            <a:extLst>
              <a:ext uri="{FF2B5EF4-FFF2-40B4-BE49-F238E27FC236}">
                <a16:creationId xmlns:a16="http://schemas.microsoft.com/office/drawing/2014/main" id="{F30E68CA-60BA-027B-C0DE-C943287D890A}"/>
              </a:ext>
            </a:extLst>
          </p:cNvPr>
          <p:cNvSpPr/>
          <p:nvPr/>
        </p:nvSpPr>
        <p:spPr>
          <a:xfrm rot="10800000" flipH="1">
            <a:off x="3854146" y="2838570"/>
            <a:ext cx="222000" cy="6801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Google Shape;331;p33">
            <a:extLst>
              <a:ext uri="{FF2B5EF4-FFF2-40B4-BE49-F238E27FC236}">
                <a16:creationId xmlns:a16="http://schemas.microsoft.com/office/drawing/2014/main" id="{6D879889-E6A0-B3EF-6155-ED9FD91C86DA}"/>
              </a:ext>
            </a:extLst>
          </p:cNvPr>
          <p:cNvSpPr txBox="1"/>
          <p:nvPr/>
        </p:nvSpPr>
        <p:spPr>
          <a:xfrm>
            <a:off x="4590713" y="3074584"/>
            <a:ext cx="67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=1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" name="Google Shape;332;p33">
            <a:extLst>
              <a:ext uri="{FF2B5EF4-FFF2-40B4-BE49-F238E27FC236}">
                <a16:creationId xmlns:a16="http://schemas.microsoft.com/office/drawing/2014/main" id="{973135FB-BCD2-F5A6-D12A-FB0F6E8FF4E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21408" y="3658897"/>
            <a:ext cx="708550" cy="7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333;p33">
            <a:extLst>
              <a:ext uri="{FF2B5EF4-FFF2-40B4-BE49-F238E27FC236}">
                <a16:creationId xmlns:a16="http://schemas.microsoft.com/office/drawing/2014/main" id="{51372583-DEDA-142D-6AEF-2FB754A46A89}"/>
              </a:ext>
            </a:extLst>
          </p:cNvPr>
          <p:cNvSpPr txBox="1"/>
          <p:nvPr/>
        </p:nvSpPr>
        <p:spPr>
          <a:xfrm>
            <a:off x="4592313" y="3783159"/>
            <a:ext cx="67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=0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2" name="Picture 4" descr="Encoding Special Lineal color icon | Freepik">
            <a:extLst>
              <a:ext uri="{FF2B5EF4-FFF2-40B4-BE49-F238E27FC236}">
                <a16:creationId xmlns:a16="http://schemas.microsoft.com/office/drawing/2014/main" id="{CF8AA4DA-AA54-6697-FA84-04D19A98A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43" y="1482450"/>
            <a:ext cx="770864" cy="77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07123760-1F1D-D69B-6869-C3989C66E44F}"/>
              </a:ext>
            </a:extLst>
          </p:cNvPr>
          <p:cNvSpPr/>
          <p:nvPr/>
        </p:nvSpPr>
        <p:spPr>
          <a:xfrm>
            <a:off x="2100250" y="3075453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Sampling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E0F067-C524-25DA-9F00-40C38A6CC539}"/>
              </a:ext>
            </a:extLst>
          </p:cNvPr>
          <p:cNvCxnSpPr>
            <a:cxnSpLocks/>
          </p:cNvCxnSpPr>
          <p:nvPr/>
        </p:nvCxnSpPr>
        <p:spPr>
          <a:xfrm>
            <a:off x="2628480" y="2350145"/>
            <a:ext cx="0" cy="725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0AE5BB-E8AA-E45D-3D11-91C00F618F15}"/>
              </a:ext>
            </a:extLst>
          </p:cNvPr>
          <p:cNvSpPr txBox="1"/>
          <p:nvPr/>
        </p:nvSpPr>
        <p:spPr>
          <a:xfrm>
            <a:off x="2050311" y="1919258"/>
            <a:ext cx="14607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Dipilih</a:t>
            </a:r>
            <a:r>
              <a:rPr lang="en-US" sz="1100" dirty="0"/>
              <a:t> 5000 </a:t>
            </a:r>
            <a:r>
              <a:rPr lang="en-US" sz="1100" dirty="0" err="1"/>
              <a:t>gambar</a:t>
            </a:r>
            <a:r>
              <a:rPr lang="en-US" sz="1100" dirty="0"/>
              <a:t> </a:t>
            </a:r>
            <a:r>
              <a:rPr lang="en-US" sz="1100" dirty="0" err="1"/>
              <a:t>secara</a:t>
            </a:r>
            <a:r>
              <a:rPr lang="en-US" sz="1100" dirty="0"/>
              <a:t> </a:t>
            </a:r>
            <a:r>
              <a:rPr lang="en-US" sz="1100" dirty="0" err="1"/>
              <a:t>acak</a:t>
            </a:r>
            <a:endParaRPr lang="en-US" sz="1100" dirty="0"/>
          </a:p>
        </p:txBody>
      </p:sp>
      <p:pic>
        <p:nvPicPr>
          <p:cNvPr id="2054" name="Picture 6" descr="Sampling Icon Images - Free Download on Freepik">
            <a:extLst>
              <a:ext uri="{FF2B5EF4-FFF2-40B4-BE49-F238E27FC236}">
                <a16:creationId xmlns:a16="http://schemas.microsoft.com/office/drawing/2014/main" id="{DEDF3BF9-7C6C-97C9-6836-AA6A0C46E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12460" y1="86422" x2="19489" y2="75559"/>
                        <a14:foregroundMark x1="19489" y1="75559" x2="33067" y2="64696"/>
                        <a14:foregroundMark x1="49042" y1="60224" x2="50160" y2="37380"/>
                        <a14:foregroundMark x1="60383" y1="63259" x2="59744" y2="40575"/>
                        <a14:foregroundMark x1="70128" y1="60064" x2="73003" y2="36901"/>
                        <a14:foregroundMark x1="70607" y1="29553" x2="70607" y2="33546"/>
                        <a14:foregroundMark x1="59585" y1="31470" x2="59425" y2="35304"/>
                        <a14:foregroundMark x1="46326" y1="28275" x2="46486" y2="317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825" y="3623543"/>
            <a:ext cx="873579" cy="873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1EF2CD4-7130-CF12-111B-DE0F90C705B9}"/>
              </a:ext>
            </a:extLst>
          </p:cNvPr>
          <p:cNvSpPr txBox="1"/>
          <p:nvPr/>
        </p:nvSpPr>
        <p:spPr>
          <a:xfrm>
            <a:off x="436209" y="3505008"/>
            <a:ext cx="15770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drop_duplicates</a:t>
            </a:r>
            <a:r>
              <a:rPr lang="en-US" dirty="0"/>
              <a:t>()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C7E78D-EDBE-7484-FAB5-82F18C5E0D2F}"/>
              </a:ext>
            </a:extLst>
          </p:cNvPr>
          <p:cNvCxnSpPr>
            <a:cxnSpLocks/>
          </p:cNvCxnSpPr>
          <p:nvPr/>
        </p:nvCxnSpPr>
        <p:spPr>
          <a:xfrm>
            <a:off x="1229666" y="2873454"/>
            <a:ext cx="0" cy="725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DCE26B1E-2BEF-03E4-F4B7-5505DD9853EB}"/>
              </a:ext>
            </a:extLst>
          </p:cNvPr>
          <p:cNvSpPr/>
          <p:nvPr/>
        </p:nvSpPr>
        <p:spPr>
          <a:xfrm>
            <a:off x="5457769" y="3061762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pic>
        <p:nvPicPr>
          <p:cNvPr id="37" name="Picture 8" descr="Distribution Generic Outline Color icon | Freepik">
            <a:extLst>
              <a:ext uri="{FF2B5EF4-FFF2-40B4-BE49-F238E27FC236}">
                <a16:creationId xmlns:a16="http://schemas.microsoft.com/office/drawing/2014/main" id="{032D4BF1-D2A1-9B34-2B44-24D0045B6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949" y="2624972"/>
            <a:ext cx="873580" cy="87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F61AF13-52C0-D703-2C8E-66D44731FD43}"/>
              </a:ext>
            </a:extLst>
          </p:cNvPr>
          <p:cNvSpPr txBox="1"/>
          <p:nvPr/>
        </p:nvSpPr>
        <p:spPr>
          <a:xfrm>
            <a:off x="5589481" y="3481648"/>
            <a:ext cx="1020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Distribution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43A1DDD-F89D-87C3-C643-D12B0F45D779}"/>
              </a:ext>
            </a:extLst>
          </p:cNvPr>
          <p:cNvSpPr/>
          <p:nvPr/>
        </p:nvSpPr>
        <p:spPr>
          <a:xfrm>
            <a:off x="6673252" y="1816187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pic>
        <p:nvPicPr>
          <p:cNvPr id="40" name="Picture 10" descr="Split - Free arrows icons">
            <a:extLst>
              <a:ext uri="{FF2B5EF4-FFF2-40B4-BE49-F238E27FC236}">
                <a16:creationId xmlns:a16="http://schemas.microsoft.com/office/drawing/2014/main" id="{1F62F5B3-DA80-030E-3532-405AF9ACE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860" y="1489456"/>
            <a:ext cx="642257" cy="64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86ACD2E-BFDC-66C2-3929-3F24FF71117F}"/>
              </a:ext>
            </a:extLst>
          </p:cNvPr>
          <p:cNvSpPr txBox="1"/>
          <p:nvPr/>
        </p:nvSpPr>
        <p:spPr>
          <a:xfrm>
            <a:off x="6737720" y="2212139"/>
            <a:ext cx="1118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Splitting Data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0AEE24B-EBE5-49DE-83DC-958B6A233B16}"/>
              </a:ext>
            </a:extLst>
          </p:cNvPr>
          <p:cNvSpPr/>
          <p:nvPr/>
        </p:nvSpPr>
        <p:spPr>
          <a:xfrm>
            <a:off x="7663406" y="3061762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pic>
        <p:nvPicPr>
          <p:cNvPr id="53" name="Picture 12" descr="Page 2 | Augmentation icons for free download | Freepik">
            <a:extLst>
              <a:ext uri="{FF2B5EF4-FFF2-40B4-BE49-F238E27FC236}">
                <a16:creationId xmlns:a16="http://schemas.microsoft.com/office/drawing/2014/main" id="{1E90D487-339A-2102-4DCB-FA8B14E44D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backgroundMark x1="29688" y1="36719" x2="29688" y2="36719"/>
                        <a14:backgroundMark x1="69531" y1="31250" x2="69531" y2="31250"/>
                        <a14:backgroundMark x1="69922" y1="31250" x2="69922" y2="31250"/>
                        <a14:backgroundMark x1="69922" y1="30469" x2="69922" y2="30469"/>
                        <a14:backgroundMark x1="69922" y1="22656" x2="66797" y2="66016"/>
                        <a14:backgroundMark x1="66797" y1="66016" x2="70703" y2="71094"/>
                        <a14:backgroundMark x1="26172" y1="20313" x2="27344" y2="76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522" t="-3716" r="27178" b="3716"/>
          <a:stretch/>
        </p:blipFill>
        <p:spPr bwMode="auto">
          <a:xfrm>
            <a:off x="7923972" y="3542424"/>
            <a:ext cx="725314" cy="110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8B08B0D-0C49-AFFD-7036-166A674499EB}"/>
              </a:ext>
            </a:extLst>
          </p:cNvPr>
          <p:cNvSpPr txBox="1"/>
          <p:nvPr/>
        </p:nvSpPr>
        <p:spPr>
          <a:xfrm>
            <a:off x="7716278" y="3467957"/>
            <a:ext cx="1172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Augmentation</a:t>
            </a:r>
          </a:p>
        </p:txBody>
      </p:sp>
    </p:spTree>
    <p:extLst>
      <p:ext uri="{BB962C8B-B14F-4D97-AF65-F5344CB8AC3E}">
        <p14:creationId xmlns:p14="http://schemas.microsoft.com/office/powerpoint/2010/main" val="1464577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0" grpId="0" animBg="1"/>
      <p:bldP spid="21" grpId="0"/>
      <p:bldP spid="23" grpId="0"/>
      <p:bldP spid="25" grpId="0" animBg="1"/>
      <p:bldP spid="28" grpId="0"/>
      <p:bldP spid="34" grpId="0"/>
      <p:bldP spid="36" grpId="0" animBg="1"/>
      <p:bldP spid="38" grpId="0"/>
      <p:bldP spid="39" grpId="0" animBg="1"/>
      <p:bldP spid="41" grpId="0"/>
      <p:bldP spid="52" grpId="0" animBg="1"/>
      <p:bldP spid="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E133FC21-21F5-D26D-154F-110036FE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78148E63-2653-FBB6-2CA1-F212CA7CF57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6" name="Google Shape;296;p32">
            <a:extLst>
              <a:ext uri="{FF2B5EF4-FFF2-40B4-BE49-F238E27FC236}">
                <a16:creationId xmlns:a16="http://schemas.microsoft.com/office/drawing/2014/main" id="{0CB66787-F648-F126-564C-DB66D63AA5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7B6DF33-A885-B7B2-13E6-2701E1AB936A}"/>
              </a:ext>
            </a:extLst>
          </p:cNvPr>
          <p:cNvSpPr/>
          <p:nvPr/>
        </p:nvSpPr>
        <p:spPr>
          <a:xfrm>
            <a:off x="603118" y="1910934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pic>
        <p:nvPicPr>
          <p:cNvPr id="6" name="Picture 8" descr="Distribution Generic Outline Color icon | Freepik">
            <a:extLst>
              <a:ext uri="{FF2B5EF4-FFF2-40B4-BE49-F238E27FC236}">
                <a16:creationId xmlns:a16="http://schemas.microsoft.com/office/drawing/2014/main" id="{09FF78B5-F149-8895-A6F3-2E61B3D83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98" y="1474144"/>
            <a:ext cx="873580" cy="87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BBA038-9E95-6FBE-F449-16199863EC66}"/>
              </a:ext>
            </a:extLst>
          </p:cNvPr>
          <p:cNvSpPr txBox="1"/>
          <p:nvPr/>
        </p:nvSpPr>
        <p:spPr>
          <a:xfrm>
            <a:off x="734830" y="2330820"/>
            <a:ext cx="1020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Distribution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8083BEF-744E-6366-7A6F-29A80CBD8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962" y="984855"/>
            <a:ext cx="3619800" cy="317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5548F1-F9DE-2C99-A00B-0B5B7A2E1E7E}"/>
              </a:ext>
            </a:extLst>
          </p:cNvPr>
          <p:cNvSpPr/>
          <p:nvPr/>
        </p:nvSpPr>
        <p:spPr>
          <a:xfrm>
            <a:off x="6506936" y="1240971"/>
            <a:ext cx="2261507" cy="54716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Female vs Male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6408CB-54B7-67A2-E578-0C7E07204E3D}"/>
              </a:ext>
            </a:extLst>
          </p:cNvPr>
          <p:cNvSpPr/>
          <p:nvPr/>
        </p:nvSpPr>
        <p:spPr>
          <a:xfrm>
            <a:off x="6506935" y="2325133"/>
            <a:ext cx="2261507" cy="5594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3:2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6A6B21-8374-D72D-519F-718BE50706DE}"/>
              </a:ext>
            </a:extLst>
          </p:cNvPr>
          <p:cNvSpPr/>
          <p:nvPr/>
        </p:nvSpPr>
        <p:spPr>
          <a:xfrm>
            <a:off x="6506935" y="3388179"/>
            <a:ext cx="2261507" cy="63681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seimbang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251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1CE3C8E9-31C1-88CC-B39D-554EC54D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F7446906-2FDD-CE77-9304-C5ACACBAD59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32">
            <a:extLst>
              <a:ext uri="{FF2B5EF4-FFF2-40B4-BE49-F238E27FC236}">
                <a16:creationId xmlns:a16="http://schemas.microsoft.com/office/drawing/2014/main" id="{05C2D2B9-B965-8138-7092-692CF6880232}"/>
              </a:ext>
            </a:extLst>
          </p:cNvPr>
          <p:cNvSpPr/>
          <p:nvPr/>
        </p:nvSpPr>
        <p:spPr>
          <a:xfrm>
            <a:off x="1596000" y="204225"/>
            <a:ext cx="5619900" cy="10740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Workflow</a:t>
            </a:r>
            <a:endParaRPr sz="36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6" name="Google Shape;296;p32">
            <a:extLst>
              <a:ext uri="{FF2B5EF4-FFF2-40B4-BE49-F238E27FC236}">
                <a16:creationId xmlns:a16="http://schemas.microsoft.com/office/drawing/2014/main" id="{3A96AD67-AB3C-ABE8-9D0D-F1491FF8CF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D65EEF3-CCB7-6A4D-5E47-C4F4662437C3}"/>
              </a:ext>
            </a:extLst>
          </p:cNvPr>
          <p:cNvSpPr/>
          <p:nvPr/>
        </p:nvSpPr>
        <p:spPr>
          <a:xfrm>
            <a:off x="682953" y="1773227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Drop duplicate</a:t>
            </a:r>
          </a:p>
        </p:txBody>
      </p:sp>
      <p:pic>
        <p:nvPicPr>
          <p:cNvPr id="2050" name="Picture 2" descr="Duplicate Icon Images – Browse 49,536 ...">
            <a:extLst>
              <a:ext uri="{FF2B5EF4-FFF2-40B4-BE49-F238E27FC236}">
                <a16:creationId xmlns:a16="http://schemas.microsoft.com/office/drawing/2014/main" id="{80FB0880-46A8-523E-8B35-F707B0350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3111" y1="28444" x2="57778" y2="68444"/>
                        <a14:foregroundMark x1="24444" y1="63111" x2="32889" y2="35556"/>
                        <a14:foregroundMark x1="32889" y1="35556" x2="43111" y2="26222"/>
                        <a14:foregroundMark x1="54222" y1="52444" x2="67111" y2="72889"/>
                        <a14:foregroundMark x1="52000" y1="74667" x2="58667" y2="73333"/>
                        <a14:foregroundMark x1="64889" y1="47111" x2="57333" y2="68444"/>
                        <a14:foregroundMark x1="52889" y1="41333" x2="76444" y2="42222"/>
                        <a14:foregroundMark x1="70667" y1="60000" x2="73333" y2="72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95" y="1203508"/>
            <a:ext cx="1139437" cy="113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B4FC23A3-2CDB-C0B9-C1CD-51072D98D25B}"/>
              </a:ext>
            </a:extLst>
          </p:cNvPr>
          <p:cNvSpPr/>
          <p:nvPr/>
        </p:nvSpPr>
        <p:spPr>
          <a:xfrm>
            <a:off x="3416855" y="1773227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Encoding</a:t>
            </a:r>
          </a:p>
        </p:txBody>
      </p:sp>
      <p:pic>
        <p:nvPicPr>
          <p:cNvPr id="18" name="Google Shape;328;p33">
            <a:extLst>
              <a:ext uri="{FF2B5EF4-FFF2-40B4-BE49-F238E27FC236}">
                <a16:creationId xmlns:a16="http://schemas.microsoft.com/office/drawing/2014/main" id="{5C00D61E-1670-9F71-7F40-7683B50AC39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8180" y="2890187"/>
            <a:ext cx="708575" cy="7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330;p33">
            <a:extLst>
              <a:ext uri="{FF2B5EF4-FFF2-40B4-BE49-F238E27FC236}">
                <a16:creationId xmlns:a16="http://schemas.microsoft.com/office/drawing/2014/main" id="{A801339A-023F-B79E-1CFA-8AB4A56ADDBF}"/>
              </a:ext>
            </a:extLst>
          </p:cNvPr>
          <p:cNvSpPr/>
          <p:nvPr/>
        </p:nvSpPr>
        <p:spPr>
          <a:xfrm rot="10800000" flipH="1">
            <a:off x="3854146" y="2838570"/>
            <a:ext cx="222000" cy="6801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Google Shape;331;p33">
            <a:extLst>
              <a:ext uri="{FF2B5EF4-FFF2-40B4-BE49-F238E27FC236}">
                <a16:creationId xmlns:a16="http://schemas.microsoft.com/office/drawing/2014/main" id="{27F3E71B-DD51-2357-FEF0-B5746FA9E516}"/>
              </a:ext>
            </a:extLst>
          </p:cNvPr>
          <p:cNvSpPr txBox="1"/>
          <p:nvPr/>
        </p:nvSpPr>
        <p:spPr>
          <a:xfrm>
            <a:off x="4590713" y="3074584"/>
            <a:ext cx="67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=1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" name="Google Shape;332;p33">
            <a:extLst>
              <a:ext uri="{FF2B5EF4-FFF2-40B4-BE49-F238E27FC236}">
                <a16:creationId xmlns:a16="http://schemas.microsoft.com/office/drawing/2014/main" id="{CE4FC13A-2CC4-8C03-D6B5-8BCF36D2800F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21408" y="3658897"/>
            <a:ext cx="708550" cy="7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333;p33">
            <a:extLst>
              <a:ext uri="{FF2B5EF4-FFF2-40B4-BE49-F238E27FC236}">
                <a16:creationId xmlns:a16="http://schemas.microsoft.com/office/drawing/2014/main" id="{447612D2-C274-7C8B-8D9D-6349E5CF5069}"/>
              </a:ext>
            </a:extLst>
          </p:cNvPr>
          <p:cNvSpPr txBox="1"/>
          <p:nvPr/>
        </p:nvSpPr>
        <p:spPr>
          <a:xfrm>
            <a:off x="4592313" y="3783159"/>
            <a:ext cx="67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=0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2" name="Picture 4" descr="Encoding Special Lineal color icon | Freepik">
            <a:extLst>
              <a:ext uri="{FF2B5EF4-FFF2-40B4-BE49-F238E27FC236}">
                <a16:creationId xmlns:a16="http://schemas.microsoft.com/office/drawing/2014/main" id="{EDA85CB8-C5F5-9C94-871F-AA9A6671B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43" y="1482450"/>
            <a:ext cx="770864" cy="77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CCF8CA23-5D9D-9706-7CA5-F2AE95F9B61D}"/>
              </a:ext>
            </a:extLst>
          </p:cNvPr>
          <p:cNvSpPr/>
          <p:nvPr/>
        </p:nvSpPr>
        <p:spPr>
          <a:xfrm>
            <a:off x="2100250" y="3075453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Sampling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9B9BA63-E39A-1FC5-D3BC-A7CB0381F447}"/>
              </a:ext>
            </a:extLst>
          </p:cNvPr>
          <p:cNvCxnSpPr>
            <a:cxnSpLocks/>
          </p:cNvCxnSpPr>
          <p:nvPr/>
        </p:nvCxnSpPr>
        <p:spPr>
          <a:xfrm>
            <a:off x="2628480" y="2350145"/>
            <a:ext cx="0" cy="725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E4D52D3-E67D-7D10-2D47-9A45A29CC2A3}"/>
              </a:ext>
            </a:extLst>
          </p:cNvPr>
          <p:cNvSpPr txBox="1"/>
          <p:nvPr/>
        </p:nvSpPr>
        <p:spPr>
          <a:xfrm>
            <a:off x="2168140" y="1927199"/>
            <a:ext cx="11485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Dipilih</a:t>
            </a:r>
            <a:r>
              <a:rPr lang="en-US" sz="1100" dirty="0"/>
              <a:t> 5000 </a:t>
            </a:r>
            <a:r>
              <a:rPr lang="en-US" sz="1100" dirty="0" err="1"/>
              <a:t>gambar</a:t>
            </a:r>
            <a:r>
              <a:rPr lang="en-US" sz="1100" dirty="0"/>
              <a:t> </a:t>
            </a:r>
            <a:r>
              <a:rPr lang="en-US" sz="1100" dirty="0" err="1"/>
              <a:t>secara</a:t>
            </a:r>
            <a:r>
              <a:rPr lang="en-US" sz="1100" dirty="0"/>
              <a:t> </a:t>
            </a:r>
            <a:r>
              <a:rPr lang="en-US" sz="1100" dirty="0" err="1"/>
              <a:t>acak</a:t>
            </a:r>
            <a:endParaRPr lang="en-US" sz="1100" dirty="0"/>
          </a:p>
        </p:txBody>
      </p:sp>
      <p:pic>
        <p:nvPicPr>
          <p:cNvPr id="2054" name="Picture 6" descr="Sampling Icon Images - Free Download on Freepik">
            <a:extLst>
              <a:ext uri="{FF2B5EF4-FFF2-40B4-BE49-F238E27FC236}">
                <a16:creationId xmlns:a16="http://schemas.microsoft.com/office/drawing/2014/main" id="{95EC75AD-DEAB-43CB-D615-FE2C010F2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12460" y1="86422" x2="19489" y2="75559"/>
                        <a14:foregroundMark x1="19489" y1="75559" x2="33067" y2="64696"/>
                        <a14:foregroundMark x1="49042" y1="60224" x2="50160" y2="37380"/>
                        <a14:foregroundMark x1="60383" y1="63259" x2="59744" y2="40575"/>
                        <a14:foregroundMark x1="70128" y1="60064" x2="73003" y2="36901"/>
                        <a14:foregroundMark x1="70607" y1="29553" x2="70607" y2="33546"/>
                        <a14:foregroundMark x1="59585" y1="31470" x2="59425" y2="35304"/>
                        <a14:foregroundMark x1="46326" y1="28275" x2="46486" y2="317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825" y="3623543"/>
            <a:ext cx="873579" cy="873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DE37CD8-45FC-7EA6-904D-95AD671241CE}"/>
              </a:ext>
            </a:extLst>
          </p:cNvPr>
          <p:cNvSpPr txBox="1"/>
          <p:nvPr/>
        </p:nvSpPr>
        <p:spPr>
          <a:xfrm>
            <a:off x="436209" y="3505008"/>
            <a:ext cx="15770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drop_duplicates</a:t>
            </a:r>
            <a:r>
              <a:rPr lang="en-US" dirty="0"/>
              <a:t>()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7CE1FEF-7AEE-90A0-A2C4-C5CC5F0F9506}"/>
              </a:ext>
            </a:extLst>
          </p:cNvPr>
          <p:cNvCxnSpPr>
            <a:cxnSpLocks/>
          </p:cNvCxnSpPr>
          <p:nvPr/>
        </p:nvCxnSpPr>
        <p:spPr>
          <a:xfrm>
            <a:off x="1229666" y="2873454"/>
            <a:ext cx="0" cy="725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C6BA42B1-DE84-0784-D774-1A6FA2DB7818}"/>
              </a:ext>
            </a:extLst>
          </p:cNvPr>
          <p:cNvSpPr/>
          <p:nvPr/>
        </p:nvSpPr>
        <p:spPr>
          <a:xfrm>
            <a:off x="5457769" y="3061762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pic>
        <p:nvPicPr>
          <p:cNvPr id="37" name="Picture 8" descr="Distribution Generic Outline Color icon | Freepik">
            <a:extLst>
              <a:ext uri="{FF2B5EF4-FFF2-40B4-BE49-F238E27FC236}">
                <a16:creationId xmlns:a16="http://schemas.microsoft.com/office/drawing/2014/main" id="{1B7088E0-CC33-231A-8830-75C56D915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949" y="2624972"/>
            <a:ext cx="873580" cy="87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869B8A7-1F9A-9C2B-A61F-390675C9D490}"/>
              </a:ext>
            </a:extLst>
          </p:cNvPr>
          <p:cNvSpPr txBox="1"/>
          <p:nvPr/>
        </p:nvSpPr>
        <p:spPr>
          <a:xfrm>
            <a:off x="5589481" y="3481648"/>
            <a:ext cx="1020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Distribution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025193A-E707-7785-F21B-29DD8B39A4BE}"/>
              </a:ext>
            </a:extLst>
          </p:cNvPr>
          <p:cNvSpPr/>
          <p:nvPr/>
        </p:nvSpPr>
        <p:spPr>
          <a:xfrm>
            <a:off x="6673252" y="1816187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pic>
        <p:nvPicPr>
          <p:cNvPr id="40" name="Picture 10" descr="Split - Free arrows icons">
            <a:extLst>
              <a:ext uri="{FF2B5EF4-FFF2-40B4-BE49-F238E27FC236}">
                <a16:creationId xmlns:a16="http://schemas.microsoft.com/office/drawing/2014/main" id="{DDF2F218-4D5B-992B-FC4B-84735D5FE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860" y="1489456"/>
            <a:ext cx="642257" cy="64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FE71DCD-C46D-7DEC-4F24-B3115216354F}"/>
              </a:ext>
            </a:extLst>
          </p:cNvPr>
          <p:cNvSpPr txBox="1"/>
          <p:nvPr/>
        </p:nvSpPr>
        <p:spPr>
          <a:xfrm>
            <a:off x="6737720" y="2212139"/>
            <a:ext cx="1118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Splitting Data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656D91C-DFB0-A4C0-DF8A-E2DDA446A009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6447529" y="2353187"/>
            <a:ext cx="2257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A9A83371-AD5A-5BB0-628D-7054254FB849}"/>
              </a:ext>
            </a:extLst>
          </p:cNvPr>
          <p:cNvSpPr/>
          <p:nvPr/>
        </p:nvSpPr>
        <p:spPr>
          <a:xfrm>
            <a:off x="4909591" y="1827865"/>
            <a:ext cx="1440895" cy="19866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Train:Val:Test</a:t>
            </a:r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C7F3FE5-8B1D-CB8E-B4D1-DC047B063B88}"/>
              </a:ext>
            </a:extLst>
          </p:cNvPr>
          <p:cNvSpPr/>
          <p:nvPr/>
        </p:nvSpPr>
        <p:spPr>
          <a:xfrm>
            <a:off x="4929861" y="2250811"/>
            <a:ext cx="1440895" cy="1986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70:15:15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3D04163-D4AB-20E8-0622-61404054CED3}"/>
              </a:ext>
            </a:extLst>
          </p:cNvPr>
          <p:cNvSpPr/>
          <p:nvPr/>
        </p:nvSpPr>
        <p:spPr>
          <a:xfrm>
            <a:off x="7663406" y="3061762"/>
            <a:ext cx="1216479" cy="1074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pic>
        <p:nvPicPr>
          <p:cNvPr id="53" name="Picture 12" descr="Page 2 | Augmentation icons for free download | Freepik">
            <a:extLst>
              <a:ext uri="{FF2B5EF4-FFF2-40B4-BE49-F238E27FC236}">
                <a16:creationId xmlns:a16="http://schemas.microsoft.com/office/drawing/2014/main" id="{F9407BEC-A021-8DDB-72EB-035E507141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backgroundMark x1="29688" y1="36719" x2="29688" y2="36719"/>
                        <a14:backgroundMark x1="69531" y1="31250" x2="69531" y2="31250"/>
                        <a14:backgroundMark x1="69922" y1="31250" x2="69922" y2="31250"/>
                        <a14:backgroundMark x1="69922" y1="30469" x2="69922" y2="30469"/>
                        <a14:backgroundMark x1="69922" y1="22656" x2="66797" y2="66016"/>
                        <a14:backgroundMark x1="66797" y1="66016" x2="70703" y2="71094"/>
                        <a14:backgroundMark x1="26172" y1="20313" x2="27344" y2="76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522" t="-3716" r="27178" b="3716"/>
          <a:stretch/>
        </p:blipFill>
        <p:spPr bwMode="auto">
          <a:xfrm>
            <a:off x="7923972" y="3542424"/>
            <a:ext cx="725314" cy="110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7BD2B549-E7BD-5AE8-6A5E-A66030052483}"/>
              </a:ext>
            </a:extLst>
          </p:cNvPr>
          <p:cNvSpPr txBox="1"/>
          <p:nvPr/>
        </p:nvSpPr>
        <p:spPr>
          <a:xfrm>
            <a:off x="7716278" y="3467957"/>
            <a:ext cx="1172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Augmentation</a:t>
            </a:r>
          </a:p>
        </p:txBody>
      </p:sp>
    </p:spTree>
    <p:extLst>
      <p:ext uri="{BB962C8B-B14F-4D97-AF65-F5344CB8AC3E}">
        <p14:creationId xmlns:p14="http://schemas.microsoft.com/office/powerpoint/2010/main" val="2826774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EB5FA31-D585-1494-37B0-8FB075597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>
            <a:extLst>
              <a:ext uri="{FF2B5EF4-FFF2-40B4-BE49-F238E27FC236}">
                <a16:creationId xmlns:a16="http://schemas.microsoft.com/office/drawing/2014/main" id="{F7C24FF4-8635-7D7A-000D-C76487458113}"/>
              </a:ext>
            </a:extLst>
          </p:cNvPr>
          <p:cNvSpPr/>
          <p:nvPr/>
        </p:nvSpPr>
        <p:spPr>
          <a:xfrm>
            <a:off x="7500" y="-37275"/>
            <a:ext cx="9129000" cy="5226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33">
            <a:extLst>
              <a:ext uri="{FF2B5EF4-FFF2-40B4-BE49-F238E27FC236}">
                <a16:creationId xmlns:a16="http://schemas.microsoft.com/office/drawing/2014/main" id="{B2854B95-C435-24A9-8EF1-8C2642B2B02D}"/>
              </a:ext>
            </a:extLst>
          </p:cNvPr>
          <p:cNvSpPr/>
          <p:nvPr/>
        </p:nvSpPr>
        <p:spPr>
          <a:xfrm>
            <a:off x="1966625" y="219350"/>
            <a:ext cx="4916700" cy="642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4" name="Google Shape;304;p33">
            <a:extLst>
              <a:ext uri="{FF2B5EF4-FFF2-40B4-BE49-F238E27FC236}">
                <a16:creationId xmlns:a16="http://schemas.microsoft.com/office/drawing/2014/main" id="{7E828684-1D18-C82F-832E-892428E7EEB8}"/>
              </a:ext>
            </a:extLst>
          </p:cNvPr>
          <p:cNvSpPr txBox="1"/>
          <p:nvPr/>
        </p:nvSpPr>
        <p:spPr>
          <a:xfrm>
            <a:off x="2276800" y="171350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endParaRPr sz="3600" b="1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33">
            <a:extLst>
              <a:ext uri="{FF2B5EF4-FFF2-40B4-BE49-F238E27FC236}">
                <a16:creationId xmlns:a16="http://schemas.microsoft.com/office/drawing/2014/main" id="{211C3CC4-424C-FE30-1D08-AD0CC5113FFA}"/>
              </a:ext>
            </a:extLst>
          </p:cNvPr>
          <p:cNvSpPr txBox="1"/>
          <p:nvPr/>
        </p:nvSpPr>
        <p:spPr>
          <a:xfrm>
            <a:off x="1701875" y="3745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3">
            <a:hlinkClick r:id="rId3" action="ppaction://hlinksldjump"/>
            <a:extLst>
              <a:ext uri="{FF2B5EF4-FFF2-40B4-BE49-F238E27FC236}">
                <a16:creationId xmlns:a16="http://schemas.microsoft.com/office/drawing/2014/main" id="{4983A48B-439B-1207-B3DC-5F1079B66495}"/>
              </a:ext>
            </a:extLst>
          </p:cNvPr>
          <p:cNvSpPr/>
          <p:nvPr/>
        </p:nvSpPr>
        <p:spPr>
          <a:xfrm>
            <a:off x="1966625" y="1191607"/>
            <a:ext cx="2320154" cy="316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76A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Base Model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1" name="Google Shape;311;p33">
            <a:extLst>
              <a:ext uri="{FF2B5EF4-FFF2-40B4-BE49-F238E27FC236}">
                <a16:creationId xmlns:a16="http://schemas.microsoft.com/office/drawing/2014/main" id="{4802EBC8-1E12-865C-B278-F4D47DBCF00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2650" y="4643616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09;p33">
            <a:hlinkClick r:id="rId5" action="ppaction://hlinksldjump"/>
            <a:extLst>
              <a:ext uri="{FF2B5EF4-FFF2-40B4-BE49-F238E27FC236}">
                <a16:creationId xmlns:a16="http://schemas.microsoft.com/office/drawing/2014/main" id="{4A22FFF7-E0E2-8686-D65A-0457E32BCCD5}"/>
              </a:ext>
            </a:extLst>
          </p:cNvPr>
          <p:cNvSpPr/>
          <p:nvPr/>
        </p:nvSpPr>
        <p:spPr>
          <a:xfrm>
            <a:off x="4857220" y="1191607"/>
            <a:ext cx="2026105" cy="316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76A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Fully Connected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4CA65-E68B-F410-8990-696DEE3D78D9}"/>
              </a:ext>
            </a:extLst>
          </p:cNvPr>
          <p:cNvSpPr txBox="1"/>
          <p:nvPr/>
        </p:nvSpPr>
        <p:spPr>
          <a:xfrm>
            <a:off x="4335612" y="1118875"/>
            <a:ext cx="472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+</a:t>
            </a:r>
            <a:endParaRPr lang="en-US" dirty="0"/>
          </a:p>
        </p:txBody>
      </p:sp>
      <p:sp>
        <p:nvSpPr>
          <p:cNvPr id="5" name="Google Shape;309;p33">
            <a:hlinkClick r:id="rId6" action="ppaction://hlinksldjump"/>
            <a:extLst>
              <a:ext uri="{FF2B5EF4-FFF2-40B4-BE49-F238E27FC236}">
                <a16:creationId xmlns:a16="http://schemas.microsoft.com/office/drawing/2014/main" id="{AD548D98-4074-EA34-114B-70673F11295C}"/>
              </a:ext>
            </a:extLst>
          </p:cNvPr>
          <p:cNvSpPr/>
          <p:nvPr/>
        </p:nvSpPr>
        <p:spPr>
          <a:xfrm>
            <a:off x="331046" y="2228590"/>
            <a:ext cx="2320154" cy="1086109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76A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Hyperparameter Tuning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309;p33">
            <a:extLst>
              <a:ext uri="{FF2B5EF4-FFF2-40B4-BE49-F238E27FC236}">
                <a16:creationId xmlns:a16="http://schemas.microsoft.com/office/drawing/2014/main" id="{27DB7A94-A4E5-968A-CD3E-69C13B3FB084}"/>
              </a:ext>
            </a:extLst>
          </p:cNvPr>
          <p:cNvSpPr/>
          <p:nvPr/>
        </p:nvSpPr>
        <p:spPr>
          <a:xfrm>
            <a:off x="331046" y="3676820"/>
            <a:ext cx="2320154" cy="1086109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76A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Callback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B8F95D0-22B2-72A7-CE21-6134E4B67976}"/>
              </a:ext>
            </a:extLst>
          </p:cNvPr>
          <p:cNvSpPr/>
          <p:nvPr/>
        </p:nvSpPr>
        <p:spPr>
          <a:xfrm>
            <a:off x="2939143" y="3649437"/>
            <a:ext cx="424543" cy="316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530A5E2-D8CB-3301-A62B-4DF90C9A70EF}"/>
              </a:ext>
            </a:extLst>
          </p:cNvPr>
          <p:cNvSpPr/>
          <p:nvPr/>
        </p:nvSpPr>
        <p:spPr>
          <a:xfrm>
            <a:off x="2914430" y="4061775"/>
            <a:ext cx="424543" cy="316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A6CC6E8-8A25-C636-1197-CF3FC566A15A}"/>
              </a:ext>
            </a:extLst>
          </p:cNvPr>
          <p:cNvSpPr/>
          <p:nvPr/>
        </p:nvSpPr>
        <p:spPr>
          <a:xfrm>
            <a:off x="2914430" y="4467535"/>
            <a:ext cx="424543" cy="316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EC684C-45A1-1729-6ABC-72D04C8E6CB5}"/>
              </a:ext>
            </a:extLst>
          </p:cNvPr>
          <p:cNvSpPr txBox="1"/>
          <p:nvPr/>
        </p:nvSpPr>
        <p:spPr>
          <a:xfrm>
            <a:off x="3393374" y="3649437"/>
            <a:ext cx="1884475" cy="31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ReduceLROnPlateau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E6829-47B1-1C1C-CB98-FDF56D757124}"/>
              </a:ext>
            </a:extLst>
          </p:cNvPr>
          <p:cNvSpPr txBox="1"/>
          <p:nvPr/>
        </p:nvSpPr>
        <p:spPr>
          <a:xfrm>
            <a:off x="3393374" y="4034392"/>
            <a:ext cx="13797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EarlyStopping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2AA3B-D0EA-8A61-4538-D2238CAFB190}"/>
              </a:ext>
            </a:extLst>
          </p:cNvPr>
          <p:cNvSpPr txBox="1"/>
          <p:nvPr/>
        </p:nvSpPr>
        <p:spPr>
          <a:xfrm>
            <a:off x="3393374" y="4467535"/>
            <a:ext cx="16083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ModelCheckpoint</a:t>
            </a:r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09D1B30-6A95-D444-30D3-08597E9D9B04}"/>
              </a:ext>
            </a:extLst>
          </p:cNvPr>
          <p:cNvSpPr/>
          <p:nvPr/>
        </p:nvSpPr>
        <p:spPr>
          <a:xfrm>
            <a:off x="2777332" y="2531869"/>
            <a:ext cx="896597" cy="400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309;p33">
            <a:extLst>
              <a:ext uri="{FF2B5EF4-FFF2-40B4-BE49-F238E27FC236}">
                <a16:creationId xmlns:a16="http://schemas.microsoft.com/office/drawing/2014/main" id="{32E6669D-9712-8D4B-FD00-173065710B52}"/>
              </a:ext>
            </a:extLst>
          </p:cNvPr>
          <p:cNvSpPr/>
          <p:nvPr/>
        </p:nvSpPr>
        <p:spPr>
          <a:xfrm>
            <a:off x="3800061" y="2204644"/>
            <a:ext cx="2320154" cy="1086109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76A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Best Hyperparameter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3CB220-772D-B164-A9F2-8EF6B5C9B621}"/>
              </a:ext>
            </a:extLst>
          </p:cNvPr>
          <p:cNvCxnSpPr/>
          <p:nvPr/>
        </p:nvCxnSpPr>
        <p:spPr>
          <a:xfrm flipV="1">
            <a:off x="6184975" y="2531869"/>
            <a:ext cx="555172" cy="3032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727FAC-5165-D3D5-EDE1-79F9EA5813C8}"/>
              </a:ext>
            </a:extLst>
          </p:cNvPr>
          <p:cNvCxnSpPr>
            <a:cxnSpLocks/>
          </p:cNvCxnSpPr>
          <p:nvPr/>
        </p:nvCxnSpPr>
        <p:spPr>
          <a:xfrm>
            <a:off x="6168480" y="2835148"/>
            <a:ext cx="550561" cy="361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3D813A8-0E6F-0D00-B1E8-7BE59B68C9CE}"/>
              </a:ext>
            </a:extLst>
          </p:cNvPr>
          <p:cNvSpPr txBox="1"/>
          <p:nvPr/>
        </p:nvSpPr>
        <p:spPr>
          <a:xfrm>
            <a:off x="6693073" y="2375731"/>
            <a:ext cx="1657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epoch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D13B31-8A30-0476-40A1-4B5BCD82D037}"/>
              </a:ext>
            </a:extLst>
          </p:cNvPr>
          <p:cNvSpPr txBox="1"/>
          <p:nvPr/>
        </p:nvSpPr>
        <p:spPr>
          <a:xfrm>
            <a:off x="6706625" y="3051217"/>
            <a:ext cx="921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Callback</a:t>
            </a:r>
          </a:p>
        </p:txBody>
      </p:sp>
      <p:sp>
        <p:nvSpPr>
          <p:cNvPr id="25" name="Flowchart: Off-page Connector 24">
            <a:hlinkClick r:id="rId7" action="ppaction://hlinksldjump"/>
            <a:extLst>
              <a:ext uri="{FF2B5EF4-FFF2-40B4-BE49-F238E27FC236}">
                <a16:creationId xmlns:a16="http://schemas.microsoft.com/office/drawing/2014/main" id="{D105C743-D5D3-1EC0-CA01-333A6C1E27EC}"/>
              </a:ext>
            </a:extLst>
          </p:cNvPr>
          <p:cNvSpPr/>
          <p:nvPr/>
        </p:nvSpPr>
        <p:spPr>
          <a:xfrm rot="16200000">
            <a:off x="7908270" y="-178398"/>
            <a:ext cx="654126" cy="1427170"/>
          </a:xfrm>
          <a:prstGeom prst="flowChartOffpage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4E902A-B204-CE27-6B5D-DFE24CB1179C}"/>
              </a:ext>
            </a:extLst>
          </p:cNvPr>
          <p:cNvSpPr txBox="1"/>
          <p:nvPr/>
        </p:nvSpPr>
        <p:spPr>
          <a:xfrm>
            <a:off x="7546475" y="402994"/>
            <a:ext cx="115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Kesimpulan</a:t>
            </a:r>
          </a:p>
        </p:txBody>
      </p:sp>
    </p:spTree>
    <p:extLst>
      <p:ext uri="{BB962C8B-B14F-4D97-AF65-F5344CB8AC3E}">
        <p14:creationId xmlns:p14="http://schemas.microsoft.com/office/powerpoint/2010/main" val="2819064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 animBg="1"/>
      <p:bldP spid="2" grpId="0" animBg="1"/>
      <p:bldP spid="3" grpId="0"/>
      <p:bldP spid="5" grpId="0" animBg="1"/>
      <p:bldP spid="6" grpId="0" animBg="1"/>
      <p:bldP spid="7" grpId="0" animBg="1"/>
      <p:bldP spid="8" grpId="0" animBg="1"/>
      <p:bldP spid="9" grpId="0" animBg="1"/>
      <p:bldP spid="11" grpId="0"/>
      <p:bldP spid="13" grpId="0"/>
      <p:bldP spid="15" grpId="0"/>
      <p:bldP spid="16" grpId="0" animBg="1"/>
      <p:bldP spid="17" grpId="0" animBg="1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DCE72B63-1BC5-035B-C3A2-5446B715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>
            <a:extLst>
              <a:ext uri="{FF2B5EF4-FFF2-40B4-BE49-F238E27FC236}">
                <a16:creationId xmlns:a16="http://schemas.microsoft.com/office/drawing/2014/main" id="{D58EDFBA-6000-2CE2-683A-06E1CC9C70A3}"/>
              </a:ext>
            </a:extLst>
          </p:cNvPr>
          <p:cNvSpPr/>
          <p:nvPr/>
        </p:nvSpPr>
        <p:spPr>
          <a:xfrm>
            <a:off x="7500" y="-37275"/>
            <a:ext cx="9129000" cy="5226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1" name="Google Shape;311;p33">
            <a:extLst>
              <a:ext uri="{FF2B5EF4-FFF2-40B4-BE49-F238E27FC236}">
                <a16:creationId xmlns:a16="http://schemas.microsoft.com/office/drawing/2014/main" id="{4797E040-01D2-7A3B-FC04-2E860CDFCC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2650" y="4643616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9;p33">
            <a:extLst>
              <a:ext uri="{FF2B5EF4-FFF2-40B4-BE49-F238E27FC236}">
                <a16:creationId xmlns:a16="http://schemas.microsoft.com/office/drawing/2014/main" id="{D9EB6AAD-14D7-84FC-C279-9DAC4734E433}"/>
              </a:ext>
            </a:extLst>
          </p:cNvPr>
          <p:cNvSpPr/>
          <p:nvPr/>
        </p:nvSpPr>
        <p:spPr>
          <a:xfrm>
            <a:off x="3396077" y="318406"/>
            <a:ext cx="2351845" cy="101795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76A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Fully Connected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A24F72-E015-CC10-B67D-63F748EB774D}"/>
              </a:ext>
            </a:extLst>
          </p:cNvPr>
          <p:cNvSpPr/>
          <p:nvPr/>
        </p:nvSpPr>
        <p:spPr>
          <a:xfrm>
            <a:off x="146956" y="1972734"/>
            <a:ext cx="1567544" cy="128995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Flatten</a:t>
            </a:r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679A50C-CE3E-082E-FB60-D2B49C8FBDAD}"/>
              </a:ext>
            </a:extLst>
          </p:cNvPr>
          <p:cNvSpPr/>
          <p:nvPr/>
        </p:nvSpPr>
        <p:spPr>
          <a:xfrm>
            <a:off x="1836965" y="2544234"/>
            <a:ext cx="726621" cy="269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BA73F4-8909-97DA-594A-75ABFFEA7C3C}"/>
              </a:ext>
            </a:extLst>
          </p:cNvPr>
          <p:cNvSpPr/>
          <p:nvPr/>
        </p:nvSpPr>
        <p:spPr>
          <a:xfrm>
            <a:off x="2686051" y="1972734"/>
            <a:ext cx="1567544" cy="128995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Dense Layer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399365-FC5D-E97C-4C8A-A7A9A61DE19E}"/>
              </a:ext>
            </a:extLst>
          </p:cNvPr>
          <p:cNvSpPr/>
          <p:nvPr/>
        </p:nvSpPr>
        <p:spPr>
          <a:xfrm>
            <a:off x="5054024" y="1972731"/>
            <a:ext cx="1567544" cy="128995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Dropout Layer</a:t>
            </a:r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C8ED493-7D6C-2018-A85B-EA793CFA3655}"/>
              </a:ext>
            </a:extLst>
          </p:cNvPr>
          <p:cNvSpPr/>
          <p:nvPr/>
        </p:nvSpPr>
        <p:spPr>
          <a:xfrm>
            <a:off x="4306660" y="2483000"/>
            <a:ext cx="726621" cy="269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C070CF-8ED7-5183-A950-557204C5807C}"/>
              </a:ext>
            </a:extLst>
          </p:cNvPr>
          <p:cNvSpPr/>
          <p:nvPr/>
        </p:nvSpPr>
        <p:spPr>
          <a:xfrm>
            <a:off x="7444286" y="1972731"/>
            <a:ext cx="1567544" cy="128995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Dropout Layer</a:t>
            </a:r>
            <a:endParaRPr lang="en-US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AA7DCBD-7017-5319-9E9F-8A96A4B4A3B2}"/>
              </a:ext>
            </a:extLst>
          </p:cNvPr>
          <p:cNvSpPr/>
          <p:nvPr/>
        </p:nvSpPr>
        <p:spPr>
          <a:xfrm>
            <a:off x="6696922" y="2483000"/>
            <a:ext cx="726621" cy="269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D4BF56-3F31-B08A-3C20-1F34C849CEB7}"/>
              </a:ext>
            </a:extLst>
          </p:cNvPr>
          <p:cNvCxnSpPr/>
          <p:nvPr/>
        </p:nvCxnSpPr>
        <p:spPr>
          <a:xfrm>
            <a:off x="3396077" y="3347357"/>
            <a:ext cx="0" cy="571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4CFA129-C6D2-2120-188F-D6ECF881D78A}"/>
              </a:ext>
            </a:extLst>
          </p:cNvPr>
          <p:cNvCxnSpPr/>
          <p:nvPr/>
        </p:nvCxnSpPr>
        <p:spPr>
          <a:xfrm>
            <a:off x="8185791" y="3347357"/>
            <a:ext cx="0" cy="571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013834B-0860-38F1-2C44-F0E99BE2386B}"/>
              </a:ext>
            </a:extLst>
          </p:cNvPr>
          <p:cNvSpPr txBox="1"/>
          <p:nvPr/>
        </p:nvSpPr>
        <p:spPr>
          <a:xfrm>
            <a:off x="3118491" y="3918080"/>
            <a:ext cx="661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55E2FF-7806-3C27-AFBC-26BCA31BD997}"/>
              </a:ext>
            </a:extLst>
          </p:cNvPr>
          <p:cNvSpPr txBox="1"/>
          <p:nvPr/>
        </p:nvSpPr>
        <p:spPr>
          <a:xfrm>
            <a:off x="7755733" y="3918079"/>
            <a:ext cx="944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Sigmoid</a:t>
            </a:r>
          </a:p>
        </p:txBody>
      </p:sp>
      <p:sp>
        <p:nvSpPr>
          <p:cNvPr id="31" name="Flowchart: Off-page Connector 30">
            <a:hlinkClick r:id="rId4" action="ppaction://hlinksldjump"/>
            <a:extLst>
              <a:ext uri="{FF2B5EF4-FFF2-40B4-BE49-F238E27FC236}">
                <a16:creationId xmlns:a16="http://schemas.microsoft.com/office/drawing/2014/main" id="{A871E023-1D72-91D6-A32E-3A01FF7AC4AD}"/>
              </a:ext>
            </a:extLst>
          </p:cNvPr>
          <p:cNvSpPr/>
          <p:nvPr/>
        </p:nvSpPr>
        <p:spPr>
          <a:xfrm rot="5400000" flipH="1">
            <a:off x="603665" y="3930031"/>
            <a:ext cx="654126" cy="1427170"/>
          </a:xfrm>
          <a:prstGeom prst="flowChartOffpage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8401DB-B610-82EE-851C-C059FC7F49F9}"/>
              </a:ext>
            </a:extLst>
          </p:cNvPr>
          <p:cNvSpPr txBox="1"/>
          <p:nvPr/>
        </p:nvSpPr>
        <p:spPr>
          <a:xfrm>
            <a:off x="487425" y="4489727"/>
            <a:ext cx="115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Model</a:t>
            </a:r>
          </a:p>
        </p:txBody>
      </p:sp>
    </p:spTree>
    <p:extLst>
      <p:ext uri="{BB962C8B-B14F-4D97-AF65-F5344CB8AC3E}">
        <p14:creationId xmlns:p14="http://schemas.microsoft.com/office/powerpoint/2010/main" val="163730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2" grpId="0" animBg="1"/>
      <p:bldP spid="14" grpId="0" animBg="1"/>
      <p:bldP spid="18" grpId="0" animBg="1"/>
      <p:bldP spid="19" grpId="0" animBg="1"/>
      <p:bldP spid="22" grpId="0" animBg="1"/>
      <p:bldP spid="25" grpId="0" animBg="1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2C19FA6-C9E2-C83A-09CE-E22C55CA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>
            <a:extLst>
              <a:ext uri="{FF2B5EF4-FFF2-40B4-BE49-F238E27FC236}">
                <a16:creationId xmlns:a16="http://schemas.microsoft.com/office/drawing/2014/main" id="{CDC1C7ED-A047-E345-1A74-DFEF37E2A1EC}"/>
              </a:ext>
            </a:extLst>
          </p:cNvPr>
          <p:cNvSpPr/>
          <p:nvPr/>
        </p:nvSpPr>
        <p:spPr>
          <a:xfrm>
            <a:off x="7500" y="-37275"/>
            <a:ext cx="9129000" cy="5226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1" name="Google Shape;311;p33">
            <a:extLst>
              <a:ext uri="{FF2B5EF4-FFF2-40B4-BE49-F238E27FC236}">
                <a16:creationId xmlns:a16="http://schemas.microsoft.com/office/drawing/2014/main" id="{F9870024-578A-226F-BB30-B38B0DE91C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2650" y="4643616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9;p33">
            <a:extLst>
              <a:ext uri="{FF2B5EF4-FFF2-40B4-BE49-F238E27FC236}">
                <a16:creationId xmlns:a16="http://schemas.microsoft.com/office/drawing/2014/main" id="{6D6414F4-3D99-291F-86B4-B4146779E554}"/>
              </a:ext>
            </a:extLst>
          </p:cNvPr>
          <p:cNvSpPr/>
          <p:nvPr/>
        </p:nvSpPr>
        <p:spPr>
          <a:xfrm>
            <a:off x="217143" y="681848"/>
            <a:ext cx="2482209" cy="1545234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76A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Hyperparameter Tuning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7409FDE-7264-47C4-A2DF-2658398AAE9D}"/>
              </a:ext>
            </a:extLst>
          </p:cNvPr>
          <p:cNvSpPr/>
          <p:nvPr/>
        </p:nvSpPr>
        <p:spPr>
          <a:xfrm>
            <a:off x="2833007" y="736089"/>
            <a:ext cx="604157" cy="435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47C049-7A98-9926-25E4-341E428C52CC}"/>
              </a:ext>
            </a:extLst>
          </p:cNvPr>
          <p:cNvSpPr/>
          <p:nvPr/>
        </p:nvSpPr>
        <p:spPr>
          <a:xfrm>
            <a:off x="2833004" y="1308849"/>
            <a:ext cx="604157" cy="435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CF21BE7-E01B-4ABA-A00C-55D375319AA0}"/>
              </a:ext>
            </a:extLst>
          </p:cNvPr>
          <p:cNvSpPr/>
          <p:nvPr/>
        </p:nvSpPr>
        <p:spPr>
          <a:xfrm>
            <a:off x="2833005" y="1845827"/>
            <a:ext cx="604157" cy="435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A2B8C8-DB84-23AA-F66D-60709507B688}"/>
              </a:ext>
            </a:extLst>
          </p:cNvPr>
          <p:cNvSpPr txBox="1"/>
          <p:nvPr/>
        </p:nvSpPr>
        <p:spPr>
          <a:xfrm>
            <a:off x="3437160" y="804070"/>
            <a:ext cx="2334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Units (128-512)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191E3-7C13-B6BF-9476-89C9195B5291}"/>
              </a:ext>
            </a:extLst>
          </p:cNvPr>
          <p:cNvSpPr txBox="1"/>
          <p:nvPr/>
        </p:nvSpPr>
        <p:spPr>
          <a:xfrm>
            <a:off x="3437162" y="1349750"/>
            <a:ext cx="1967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Dropout Rate (0.2-0.5)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537E5-ED62-7D7E-B182-9A3A3C68BBE5}"/>
              </a:ext>
            </a:extLst>
          </p:cNvPr>
          <p:cNvSpPr txBox="1"/>
          <p:nvPr/>
        </p:nvSpPr>
        <p:spPr>
          <a:xfrm>
            <a:off x="3437161" y="1909686"/>
            <a:ext cx="2767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Learning Rate (1e-2, 1e-3, 1e-4)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B0D250-7D69-4C32-BBB1-E73BB351C33D}"/>
              </a:ext>
            </a:extLst>
          </p:cNvPr>
          <p:cNvCxnSpPr/>
          <p:nvPr/>
        </p:nvCxnSpPr>
        <p:spPr>
          <a:xfrm>
            <a:off x="5404758" y="1506321"/>
            <a:ext cx="6123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84C61F-A7E1-598F-681F-14C5C27656E8}"/>
              </a:ext>
            </a:extLst>
          </p:cNvPr>
          <p:cNvCxnSpPr/>
          <p:nvPr/>
        </p:nvCxnSpPr>
        <p:spPr>
          <a:xfrm>
            <a:off x="6120493" y="2075100"/>
            <a:ext cx="6123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D3D493-053D-4389-52D3-1D703323F767}"/>
              </a:ext>
            </a:extLst>
          </p:cNvPr>
          <p:cNvSpPr txBox="1"/>
          <p:nvPr/>
        </p:nvSpPr>
        <p:spPr>
          <a:xfrm>
            <a:off x="5996998" y="1347367"/>
            <a:ext cx="1967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Prevent Overfitting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56EF31-2BEE-A6E7-E8E4-56B5E33E166E}"/>
              </a:ext>
            </a:extLst>
          </p:cNvPr>
          <p:cNvSpPr txBox="1"/>
          <p:nvPr/>
        </p:nvSpPr>
        <p:spPr>
          <a:xfrm>
            <a:off x="6686880" y="1923227"/>
            <a:ext cx="2457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optimization speed</a:t>
            </a:r>
          </a:p>
        </p:txBody>
      </p:sp>
      <p:pic>
        <p:nvPicPr>
          <p:cNvPr id="23" name="Graphic 22" descr="Line arrow: Clockwise curve with solid fill">
            <a:extLst>
              <a:ext uri="{FF2B5EF4-FFF2-40B4-BE49-F238E27FC236}">
                <a16:creationId xmlns:a16="http://schemas.microsoft.com/office/drawing/2014/main" id="{ED56CBD7-50C5-A120-AE75-DA5C46D6D2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 flipH="1">
            <a:off x="313599" y="2410477"/>
            <a:ext cx="1734994" cy="914400"/>
          </a:xfrm>
          <a:prstGeom prst="rect">
            <a:avLst/>
          </a:prstGeom>
        </p:spPr>
      </p:pic>
      <p:sp>
        <p:nvSpPr>
          <p:cNvPr id="24" name="Google Shape;309;p33">
            <a:extLst>
              <a:ext uri="{FF2B5EF4-FFF2-40B4-BE49-F238E27FC236}">
                <a16:creationId xmlns:a16="http://schemas.microsoft.com/office/drawing/2014/main" id="{DF256F15-9828-74B9-9414-18DB55C14EEC}"/>
              </a:ext>
            </a:extLst>
          </p:cNvPr>
          <p:cNvSpPr/>
          <p:nvPr/>
        </p:nvSpPr>
        <p:spPr>
          <a:xfrm>
            <a:off x="1638296" y="2690058"/>
            <a:ext cx="1910580" cy="1045116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76A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Bayesian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E93D1B76-6EDD-FBB1-A53B-5F75D9CEAAA0}"/>
              </a:ext>
            </a:extLst>
          </p:cNvPr>
          <p:cNvSpPr/>
          <p:nvPr/>
        </p:nvSpPr>
        <p:spPr>
          <a:xfrm>
            <a:off x="3859119" y="2667069"/>
            <a:ext cx="604157" cy="435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B0F7F57-94E1-EBCA-AB75-83E6D3539883}"/>
              </a:ext>
            </a:extLst>
          </p:cNvPr>
          <p:cNvSpPr/>
          <p:nvPr/>
        </p:nvSpPr>
        <p:spPr>
          <a:xfrm>
            <a:off x="3859118" y="3299678"/>
            <a:ext cx="604157" cy="435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15C7DB-282F-B5D2-41C0-005F08FA908B}"/>
              </a:ext>
            </a:extLst>
          </p:cNvPr>
          <p:cNvSpPr txBox="1"/>
          <p:nvPr/>
        </p:nvSpPr>
        <p:spPr>
          <a:xfrm>
            <a:off x="4463275" y="2671961"/>
            <a:ext cx="4254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Strategi: parameter </a:t>
            </a:r>
            <a:r>
              <a:rPr lang="en-US" dirty="0" err="1"/>
              <a:t>terbaik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trial paling </a:t>
            </a:r>
            <a:r>
              <a:rPr lang="en-US" dirty="0" err="1"/>
              <a:t>sedikit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FE0869-843D-851E-A60C-EB88ACD65062}"/>
              </a:ext>
            </a:extLst>
          </p:cNvPr>
          <p:cNvSpPr txBox="1"/>
          <p:nvPr/>
        </p:nvSpPr>
        <p:spPr>
          <a:xfrm>
            <a:off x="4453947" y="3365117"/>
            <a:ext cx="4254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 trials=3</a:t>
            </a:r>
          </a:p>
        </p:txBody>
      </p:sp>
      <p:sp>
        <p:nvSpPr>
          <p:cNvPr id="37" name="Flowchart: Off-page Connector 36">
            <a:hlinkClick r:id="rId6" action="ppaction://hlinksldjump"/>
            <a:extLst>
              <a:ext uri="{FF2B5EF4-FFF2-40B4-BE49-F238E27FC236}">
                <a16:creationId xmlns:a16="http://schemas.microsoft.com/office/drawing/2014/main" id="{6D8F7EC2-8E59-F09F-33C4-55F243EFE3BE}"/>
              </a:ext>
            </a:extLst>
          </p:cNvPr>
          <p:cNvSpPr/>
          <p:nvPr/>
        </p:nvSpPr>
        <p:spPr>
          <a:xfrm rot="5400000" flipH="1">
            <a:off x="603665" y="3930031"/>
            <a:ext cx="654126" cy="1427170"/>
          </a:xfrm>
          <a:prstGeom prst="flowChartOffpage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7CF570-2290-F989-DC4C-39E5E9E0410C}"/>
              </a:ext>
            </a:extLst>
          </p:cNvPr>
          <p:cNvSpPr txBox="1"/>
          <p:nvPr/>
        </p:nvSpPr>
        <p:spPr>
          <a:xfrm>
            <a:off x="487425" y="4489727"/>
            <a:ext cx="115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Model</a:t>
            </a:r>
          </a:p>
        </p:txBody>
      </p:sp>
    </p:spTree>
    <p:extLst>
      <p:ext uri="{BB962C8B-B14F-4D97-AF65-F5344CB8AC3E}">
        <p14:creationId xmlns:p14="http://schemas.microsoft.com/office/powerpoint/2010/main" val="2881300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3" grpId="0" animBg="1"/>
      <p:bldP spid="5" grpId="0" animBg="1"/>
      <p:bldP spid="6" grpId="0"/>
      <p:bldP spid="7" grpId="0"/>
      <p:bldP spid="8" grpId="0"/>
      <p:bldP spid="17" grpId="0"/>
      <p:bldP spid="20" grpId="0"/>
      <p:bldP spid="24" grpId="0" animBg="1"/>
      <p:bldP spid="26" grpId="0" animBg="1"/>
      <p:bldP spid="33" grpId="0" animBg="1"/>
      <p:bldP spid="34" grpId="0"/>
      <p:bldP spid="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FD5AFE5D-A01C-BE4C-1189-D50763E4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: Rounded Corners 415">
            <a:extLst>
              <a:ext uri="{FF2B5EF4-FFF2-40B4-BE49-F238E27FC236}">
                <a16:creationId xmlns:a16="http://schemas.microsoft.com/office/drawing/2014/main" id="{3F7F81B4-5AF3-8004-11A4-BBEB86C4ACFF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Base Model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17" name="Rectangle: Rounded Corners 416">
            <a:extLst>
              <a:ext uri="{FF2B5EF4-FFF2-40B4-BE49-F238E27FC236}">
                <a16:creationId xmlns:a16="http://schemas.microsoft.com/office/drawing/2014/main" id="{BDECEFCA-C4F5-93BF-D460-23796F23275E}"/>
              </a:ext>
            </a:extLst>
          </p:cNvPr>
          <p:cNvSpPr/>
          <p:nvPr/>
        </p:nvSpPr>
        <p:spPr>
          <a:xfrm>
            <a:off x="3098800" y="3462866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VGG 16</a:t>
            </a:r>
          </a:p>
        </p:txBody>
      </p:sp>
      <p:pic>
        <p:nvPicPr>
          <p:cNvPr id="421" name="Graphic 420" descr="Line arrow: Straigh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94DE94A-BEFB-6D5E-3D24-8F8A50AA7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4400" y="3251199"/>
            <a:ext cx="914400" cy="914400"/>
          </a:xfrm>
          <a:prstGeom prst="rect">
            <a:avLst/>
          </a:prstGeom>
        </p:spPr>
      </p:pic>
      <p:pic>
        <p:nvPicPr>
          <p:cNvPr id="422" name="Graphic 421" descr="Line arrow: Straigh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2F52943-8638-4C5F-0F8D-CAE3C0C3E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138333" y="3251199"/>
            <a:ext cx="914400" cy="914400"/>
          </a:xfrm>
          <a:prstGeom prst="rect">
            <a:avLst/>
          </a:prstGeom>
        </p:spPr>
      </p:pic>
      <p:pic>
        <p:nvPicPr>
          <p:cNvPr id="425" name="Google Shape;278;p31">
            <a:extLst>
              <a:ext uri="{FF2B5EF4-FFF2-40B4-BE49-F238E27FC236}">
                <a16:creationId xmlns:a16="http://schemas.microsoft.com/office/drawing/2014/main" id="{C00BC84F-1A23-AEDE-88AC-EB8AE7E2261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Placeholder 10">
            <a:hlinkClick r:id="rId6" action="ppaction://hlinksldjump"/>
            <a:extLst>
              <a:ext uri="{FF2B5EF4-FFF2-40B4-BE49-F238E27FC236}">
                <a16:creationId xmlns:a16="http://schemas.microsoft.com/office/drawing/2014/main" id="{A7C4E1A9-5DB0-ABDB-6A31-279659AFFD4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7"/>
          <a:srcRect l="9388" r="9388"/>
          <a:stretch>
            <a:fillRect/>
          </a:stretch>
        </p:blipFill>
        <p:spPr>
          <a:xfrm>
            <a:off x="3516502" y="1066801"/>
            <a:ext cx="1812925" cy="2232660"/>
          </a:xfrm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DE0B7FCD-A577-990A-29DC-8DC72640BC7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97" r="742"/>
          <a:stretch/>
        </p:blipFill>
        <p:spPr>
          <a:xfrm>
            <a:off x="5787082" y="950805"/>
            <a:ext cx="2204357" cy="2232660"/>
          </a:xfrm>
        </p:spPr>
      </p:pic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3FDEA7A4-6974-1E47-812D-602575419E3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78" b="89778" l="4000" r="94667">
                        <a14:foregroundMark x1="88889" y1="60889" x2="94667" y2="38222"/>
                        <a14:foregroundMark x1="90667" y1="62222" x2="95111" y2="52444"/>
                        <a14:foregroundMark x1="6667" y1="50222" x2="6667" y2="50222"/>
                        <a14:foregroundMark x1="4000" y1="54222" x2="18222" y2="42222"/>
                      </a14:backgroundRemoval>
                    </a14:imgEffect>
                  </a14:imgLayer>
                </a14:imgProps>
              </a:ext>
            </a:extLst>
          </a:blip>
          <a:srcRect l="619" r="2083"/>
          <a:stretch/>
        </p:blipFill>
        <p:spPr>
          <a:xfrm>
            <a:off x="8449094" y="950805"/>
            <a:ext cx="2171699" cy="2232660"/>
          </a:xfrm>
        </p:spPr>
      </p:pic>
    </p:spTree>
    <p:extLst>
      <p:ext uri="{BB962C8B-B14F-4D97-AF65-F5344CB8AC3E}">
        <p14:creationId xmlns:p14="http://schemas.microsoft.com/office/powerpoint/2010/main" val="1779067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68685996-7AD3-1C3B-2F4E-70501FDE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: Rounded Corners 415">
            <a:extLst>
              <a:ext uri="{FF2B5EF4-FFF2-40B4-BE49-F238E27FC236}">
                <a16:creationId xmlns:a16="http://schemas.microsoft.com/office/drawing/2014/main" id="{5A02C5F1-FC61-3F81-FF51-D2C881896F1B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Base Model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17" name="Rectangle: Rounded Corners 416">
            <a:extLst>
              <a:ext uri="{FF2B5EF4-FFF2-40B4-BE49-F238E27FC236}">
                <a16:creationId xmlns:a16="http://schemas.microsoft.com/office/drawing/2014/main" id="{4C99C8F7-9C7C-D13F-3668-16B0378302C9}"/>
              </a:ext>
            </a:extLst>
          </p:cNvPr>
          <p:cNvSpPr/>
          <p:nvPr/>
        </p:nvSpPr>
        <p:spPr>
          <a:xfrm>
            <a:off x="3098800" y="3462866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ResNet50</a:t>
            </a:r>
          </a:p>
        </p:txBody>
      </p:sp>
      <p:pic>
        <p:nvPicPr>
          <p:cNvPr id="421" name="Graphic 420" descr="Line arrow: Straigh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1156-78D0-9A95-4F67-56147CBBA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4400" y="3251199"/>
            <a:ext cx="914400" cy="914400"/>
          </a:xfrm>
          <a:prstGeom prst="rect">
            <a:avLst/>
          </a:prstGeom>
        </p:spPr>
      </p:pic>
      <p:pic>
        <p:nvPicPr>
          <p:cNvPr id="422" name="Graphic 421" descr="Line arrow: Straigh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500E280-C3EC-1B2C-CAB5-D9934B463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138333" y="3251199"/>
            <a:ext cx="914400" cy="914400"/>
          </a:xfrm>
          <a:prstGeom prst="rect">
            <a:avLst/>
          </a:prstGeom>
        </p:spPr>
      </p:pic>
      <p:pic>
        <p:nvPicPr>
          <p:cNvPr id="425" name="Google Shape;278;p31">
            <a:extLst>
              <a:ext uri="{FF2B5EF4-FFF2-40B4-BE49-F238E27FC236}">
                <a16:creationId xmlns:a16="http://schemas.microsoft.com/office/drawing/2014/main" id="{016B1D03-FBEE-7ADA-8DE1-D5DF1E1B8BA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B4548DEC-5CF7-06A9-3752-6281C08AB60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388" r="9388"/>
          <a:stretch>
            <a:fillRect/>
          </a:stretch>
        </p:blipFill>
        <p:spPr>
          <a:xfrm>
            <a:off x="1173350" y="1066801"/>
            <a:ext cx="1812925" cy="2232660"/>
          </a:xfrm>
        </p:spPr>
      </p:pic>
      <p:pic>
        <p:nvPicPr>
          <p:cNvPr id="15" name="Picture Placeholder 14">
            <a:hlinkClick r:id="rId7" action="ppaction://hlinksldjump"/>
            <a:extLst>
              <a:ext uri="{FF2B5EF4-FFF2-40B4-BE49-F238E27FC236}">
                <a16:creationId xmlns:a16="http://schemas.microsoft.com/office/drawing/2014/main" id="{0B8E69F6-3962-5482-3EEA-B7FA09CDF9C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8"/>
          <a:srcRect l="497" r="742"/>
          <a:stretch/>
        </p:blipFill>
        <p:spPr>
          <a:xfrm>
            <a:off x="3443930" y="950805"/>
            <a:ext cx="2204357" cy="2232660"/>
          </a:xfrm>
        </p:spPr>
      </p:pic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95E74470-DCF0-57EF-DBAF-F46E64541B3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78" b="89778" l="4000" r="94667">
                        <a14:foregroundMark x1="88889" y1="60889" x2="94667" y2="38222"/>
                        <a14:foregroundMark x1="90667" y1="62222" x2="95111" y2="52444"/>
                        <a14:foregroundMark x1="6667" y1="50222" x2="6667" y2="50222"/>
                        <a14:foregroundMark x1="4000" y1="54222" x2="18222" y2="42222"/>
                      </a14:backgroundRemoval>
                    </a14:imgEffect>
                  </a14:imgLayer>
                </a14:imgProps>
              </a:ext>
            </a:extLst>
          </a:blip>
          <a:srcRect l="619" r="2083"/>
          <a:stretch/>
        </p:blipFill>
        <p:spPr>
          <a:xfrm>
            <a:off x="6105942" y="950805"/>
            <a:ext cx="2171699" cy="2232660"/>
          </a:xfrm>
        </p:spPr>
      </p:pic>
    </p:spTree>
    <p:extLst>
      <p:ext uri="{BB962C8B-B14F-4D97-AF65-F5344CB8AC3E}">
        <p14:creationId xmlns:p14="http://schemas.microsoft.com/office/powerpoint/2010/main" val="2627179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A2B0B489-2A03-EB01-3FB6-6176C867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: Rounded Corners 415">
            <a:extLst>
              <a:ext uri="{FF2B5EF4-FFF2-40B4-BE49-F238E27FC236}">
                <a16:creationId xmlns:a16="http://schemas.microsoft.com/office/drawing/2014/main" id="{58FDCDA2-59E7-C0E1-7848-BC49A7BB2A7B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Base Model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17" name="Rectangle: Rounded Corners 416">
            <a:extLst>
              <a:ext uri="{FF2B5EF4-FFF2-40B4-BE49-F238E27FC236}">
                <a16:creationId xmlns:a16="http://schemas.microsoft.com/office/drawing/2014/main" id="{8725D8DA-F11C-E634-0997-731DA0161DCB}"/>
              </a:ext>
            </a:extLst>
          </p:cNvPr>
          <p:cNvSpPr/>
          <p:nvPr/>
        </p:nvSpPr>
        <p:spPr>
          <a:xfrm>
            <a:off x="3098800" y="3462866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GoogleNet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21" name="Graphic 420" descr="Line arrow: Straigh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184AE8E-D1E0-F840-78E9-6E3F30E93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4400" y="3251199"/>
            <a:ext cx="914400" cy="914400"/>
          </a:xfrm>
          <a:prstGeom prst="rect">
            <a:avLst/>
          </a:prstGeom>
        </p:spPr>
      </p:pic>
      <p:pic>
        <p:nvPicPr>
          <p:cNvPr id="422" name="Graphic 421" descr="Line arrow: Straigh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BA35CB1-3C80-89E2-D472-FE057F74B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138333" y="3251199"/>
            <a:ext cx="914400" cy="914400"/>
          </a:xfrm>
          <a:prstGeom prst="rect">
            <a:avLst/>
          </a:prstGeom>
        </p:spPr>
      </p:pic>
      <p:pic>
        <p:nvPicPr>
          <p:cNvPr id="425" name="Google Shape;278;p31">
            <a:extLst>
              <a:ext uri="{FF2B5EF4-FFF2-40B4-BE49-F238E27FC236}">
                <a16:creationId xmlns:a16="http://schemas.microsoft.com/office/drawing/2014/main" id="{1079DDA7-FF5D-A9EE-A00E-FF3E29DDD6C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CAF0C22-FE86-E0A1-9B14-2E0D00FD2B4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388" r="9388"/>
          <a:stretch>
            <a:fillRect/>
          </a:stretch>
        </p:blipFill>
        <p:spPr>
          <a:xfrm>
            <a:off x="-1380871" y="1066801"/>
            <a:ext cx="1812925" cy="2232660"/>
          </a:xfrm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2194111F-790E-134B-D969-D6082DFFA8B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97" r="742"/>
          <a:stretch/>
        </p:blipFill>
        <p:spPr>
          <a:xfrm>
            <a:off x="889709" y="950805"/>
            <a:ext cx="2204357" cy="2232660"/>
          </a:xfrm>
        </p:spPr>
      </p:pic>
      <p:pic>
        <p:nvPicPr>
          <p:cNvPr id="23" name="Picture Placeholder 22">
            <a:hlinkClick r:id="rId8" action="ppaction://hlinksldjump"/>
            <a:extLst>
              <a:ext uri="{FF2B5EF4-FFF2-40B4-BE49-F238E27FC236}">
                <a16:creationId xmlns:a16="http://schemas.microsoft.com/office/drawing/2014/main" id="{CABB96F9-3069-4D3A-F9B6-62790CE326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78" b="89778" l="4000" r="94667">
                        <a14:foregroundMark x1="88889" y1="60889" x2="94667" y2="38222"/>
                        <a14:foregroundMark x1="90667" y1="62222" x2="95111" y2="52444"/>
                        <a14:foregroundMark x1="6667" y1="50222" x2="6667" y2="50222"/>
                        <a14:foregroundMark x1="4000" y1="54222" x2="18222" y2="42222"/>
                      </a14:backgroundRemoval>
                    </a14:imgEffect>
                  </a14:imgLayer>
                </a14:imgProps>
              </a:ext>
            </a:extLst>
          </a:blip>
          <a:srcRect l="619" r="2083"/>
          <a:stretch/>
        </p:blipFill>
        <p:spPr>
          <a:xfrm>
            <a:off x="3551721" y="950805"/>
            <a:ext cx="2171699" cy="2232660"/>
          </a:xfrm>
        </p:spPr>
      </p:pic>
    </p:spTree>
    <p:extLst>
      <p:ext uri="{BB962C8B-B14F-4D97-AF65-F5344CB8AC3E}">
        <p14:creationId xmlns:p14="http://schemas.microsoft.com/office/powerpoint/2010/main" val="4258921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0ED58321-3C83-77FC-F5D7-482307DA8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: Rounded Corners 415">
            <a:extLst>
              <a:ext uri="{FF2B5EF4-FFF2-40B4-BE49-F238E27FC236}">
                <a16:creationId xmlns:a16="http://schemas.microsoft.com/office/drawing/2014/main" id="{E66D72AD-563E-A687-2993-520C1F7F4E21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Evaluasi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25" name="Google Shape;278;p31">
            <a:extLst>
              <a:ext uri="{FF2B5EF4-FFF2-40B4-BE49-F238E27FC236}">
                <a16:creationId xmlns:a16="http://schemas.microsoft.com/office/drawing/2014/main" id="{18263078-EB63-EF0D-7028-14B6558E53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1F3825-A11A-2DB7-6821-BAE0DDBED576}"/>
              </a:ext>
            </a:extLst>
          </p:cNvPr>
          <p:cNvSpPr/>
          <p:nvPr/>
        </p:nvSpPr>
        <p:spPr>
          <a:xfrm>
            <a:off x="261337" y="1281793"/>
            <a:ext cx="2375727" cy="4116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Training dan </a:t>
            </a:r>
            <a:r>
              <a:rPr lang="en-US" dirty="0" err="1"/>
              <a:t>Validasi</a:t>
            </a:r>
            <a:endParaRPr lang="en-US" dirty="0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F6FD73C2-115D-4990-7F46-856DA4EA6BB1}"/>
              </a:ext>
            </a:extLst>
          </p:cNvPr>
          <p:cNvSpPr/>
          <p:nvPr/>
        </p:nvSpPr>
        <p:spPr>
          <a:xfrm>
            <a:off x="261337" y="1881928"/>
            <a:ext cx="2837463" cy="1147022"/>
          </a:xfrm>
          <a:prstGeom prst="homePlat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A48DF7E-0F61-0747-079A-5C911E6027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422" r="62525"/>
          <a:stretch/>
        </p:blipFill>
        <p:spPr>
          <a:xfrm>
            <a:off x="261337" y="2455439"/>
            <a:ext cx="2126264" cy="5451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C6D9DA-0218-1920-D769-31178ADE2B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039" r="5384" b="57550"/>
          <a:stretch/>
        </p:blipFill>
        <p:spPr>
          <a:xfrm>
            <a:off x="261337" y="1962868"/>
            <a:ext cx="2302249" cy="36395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68A9D6-D35F-3B22-E12E-85889315D8F6}"/>
              </a:ext>
            </a:extLst>
          </p:cNvPr>
          <p:cNvCxnSpPr>
            <a:cxnSpLocks/>
          </p:cNvCxnSpPr>
          <p:nvPr/>
        </p:nvCxnSpPr>
        <p:spPr>
          <a:xfrm>
            <a:off x="1299976" y="3000541"/>
            <a:ext cx="24493" cy="5539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C49684-683A-EB73-97D2-851EF7498586}"/>
              </a:ext>
            </a:extLst>
          </p:cNvPr>
          <p:cNvSpPr txBox="1"/>
          <p:nvPr/>
        </p:nvSpPr>
        <p:spPr>
          <a:xfrm>
            <a:off x="166400" y="3553930"/>
            <a:ext cx="30395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good generalization on unseen data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8FECFCC-20DA-36E0-A1B6-3B6C576B6025}"/>
              </a:ext>
            </a:extLst>
          </p:cNvPr>
          <p:cNvSpPr/>
          <p:nvPr/>
        </p:nvSpPr>
        <p:spPr>
          <a:xfrm>
            <a:off x="5108201" y="1279783"/>
            <a:ext cx="2375727" cy="4116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Confusion Matrix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C8E68BF-1270-0DDA-BA5F-8DEC5175A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470" y="1877906"/>
            <a:ext cx="2375726" cy="217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0B92074-C19B-2907-7C7D-ACD7804E9A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07" t="79906" r="57946" b="9864"/>
          <a:stretch/>
        </p:blipFill>
        <p:spPr>
          <a:xfrm>
            <a:off x="4950470" y="4356100"/>
            <a:ext cx="3140630" cy="491067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7EF18A-D968-E6A1-A3C0-0B381EFD362F}"/>
              </a:ext>
            </a:extLst>
          </p:cNvPr>
          <p:cNvCxnSpPr/>
          <p:nvPr/>
        </p:nvCxnSpPr>
        <p:spPr>
          <a:xfrm flipH="1" flipV="1">
            <a:off x="4618566" y="1877906"/>
            <a:ext cx="573920" cy="266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485D11A-EB86-BA4F-BA90-9C795B59F27F}"/>
              </a:ext>
            </a:extLst>
          </p:cNvPr>
          <p:cNvSpPr txBox="1"/>
          <p:nvPr/>
        </p:nvSpPr>
        <p:spPr>
          <a:xfrm>
            <a:off x="3624943" y="1485599"/>
            <a:ext cx="947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Terhadap</a:t>
            </a:r>
            <a:r>
              <a:rPr lang="en-US" dirty="0"/>
              <a:t> data test</a:t>
            </a:r>
          </a:p>
        </p:txBody>
      </p:sp>
    </p:spTree>
    <p:extLst>
      <p:ext uri="{BB962C8B-B14F-4D97-AF65-F5344CB8AC3E}">
        <p14:creationId xmlns:p14="http://schemas.microsoft.com/office/powerpoint/2010/main" val="24725670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8912B8B8-758D-950F-E27B-01ABA55B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278;p31">
            <a:extLst>
              <a:ext uri="{FF2B5EF4-FFF2-40B4-BE49-F238E27FC236}">
                <a16:creationId xmlns:a16="http://schemas.microsoft.com/office/drawing/2014/main" id="{829D77AB-72E7-B959-3888-0E32FD8EC2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22BC358-347C-1B49-5918-D09D1C29E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40" y="419652"/>
            <a:ext cx="3132173" cy="2869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C0997C7-B9EC-73EC-9AE1-474013D1D1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07" t="79906" r="57946" b="9864"/>
          <a:stretch/>
        </p:blipFill>
        <p:spPr>
          <a:xfrm>
            <a:off x="590740" y="3556000"/>
            <a:ext cx="3140630" cy="70575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4F16014-2097-4055-883C-264225D83DD9}"/>
              </a:ext>
            </a:extLst>
          </p:cNvPr>
          <p:cNvSpPr txBox="1"/>
          <p:nvPr/>
        </p:nvSpPr>
        <p:spPr>
          <a:xfrm>
            <a:off x="4218024" y="1103234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mengklasifikasikan</a:t>
            </a:r>
            <a:r>
              <a:rPr lang="en-US" dirty="0"/>
              <a:t> 396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0 dan 282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1 </a:t>
            </a:r>
            <a:r>
              <a:rPr lang="en-US" dirty="0" err="1"/>
              <a:t>dengan</a:t>
            </a:r>
            <a:r>
              <a:rPr lang="en-US" dirty="0"/>
              <a:t> 30 false positive dan 42 false negative. 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 yang </a:t>
            </a:r>
            <a:r>
              <a:rPr lang="en-US" dirty="0" err="1"/>
              <a:t>seimbang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mengidentifikasi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0.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F3A26061-1E71-8542-534A-CB6165DFF441}"/>
              </a:ext>
            </a:extLst>
          </p:cNvPr>
          <p:cNvSpPr/>
          <p:nvPr/>
        </p:nvSpPr>
        <p:spPr>
          <a:xfrm>
            <a:off x="3747405" y="1453243"/>
            <a:ext cx="495111" cy="351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8920C79-7EE5-3CDF-5A68-825C674710E1}"/>
              </a:ext>
            </a:extLst>
          </p:cNvPr>
          <p:cNvSpPr/>
          <p:nvPr/>
        </p:nvSpPr>
        <p:spPr>
          <a:xfrm>
            <a:off x="3722913" y="3681038"/>
            <a:ext cx="495111" cy="351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806946-F72D-CFE3-5AB9-AC434FAFEAFC}"/>
              </a:ext>
            </a:extLst>
          </p:cNvPr>
          <p:cNvSpPr txBox="1"/>
          <p:nvPr/>
        </p:nvSpPr>
        <p:spPr>
          <a:xfrm>
            <a:off x="4218024" y="2948629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Classification Report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precision </a:t>
            </a:r>
            <a:r>
              <a:rPr lang="en-US" dirty="0" err="1"/>
              <a:t>sebesar</a:t>
            </a:r>
            <a:r>
              <a:rPr lang="en-US" dirty="0"/>
              <a:t> 0,93, recall 0,90, dan F1-score 0,92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0,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1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metrik</a:t>
            </a:r>
            <a:r>
              <a:rPr lang="en-US" dirty="0"/>
              <a:t> yang </a:t>
            </a:r>
            <a:r>
              <a:rPr lang="en-US" dirty="0" err="1"/>
              <a:t>sedikit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precision 0,87, recall 0,90, dan F1-score 0,89. Model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dirty="0" err="1"/>
              <a:t>keseluruhan</a:t>
            </a:r>
            <a:r>
              <a:rPr lang="en-US" dirty="0"/>
              <a:t> </a:t>
            </a:r>
            <a:r>
              <a:rPr lang="en-US" dirty="0" err="1"/>
              <a:t>sebesar</a:t>
            </a:r>
            <a:r>
              <a:rPr lang="en-US" dirty="0"/>
              <a:t> 90%, </a:t>
            </a:r>
            <a:r>
              <a:rPr lang="en-US" dirty="0" err="1"/>
              <a:t>dengan</a:t>
            </a:r>
            <a:r>
              <a:rPr lang="en-US" dirty="0"/>
              <a:t> rata-rata </a:t>
            </a:r>
            <a:r>
              <a:rPr lang="en-US" dirty="0" err="1"/>
              <a:t>makro</a:t>
            </a:r>
            <a:r>
              <a:rPr lang="en-US" dirty="0"/>
              <a:t> dan </a:t>
            </a:r>
            <a:r>
              <a:rPr lang="en-US" dirty="0" err="1"/>
              <a:t>terbobot</a:t>
            </a:r>
            <a:r>
              <a:rPr lang="en-US" dirty="0"/>
              <a:t> </a:t>
            </a:r>
            <a:r>
              <a:rPr lang="en-US" dirty="0" err="1"/>
              <a:t>sebesar</a:t>
            </a:r>
            <a:r>
              <a:rPr lang="en-US" dirty="0"/>
              <a:t> 0,90, yang </a:t>
            </a:r>
            <a:r>
              <a:rPr lang="en-US" dirty="0" err="1"/>
              <a:t>mencerminkan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yang </a:t>
            </a:r>
            <a:r>
              <a:rPr lang="en-US" dirty="0" err="1"/>
              <a:t>andal</a:t>
            </a:r>
            <a:r>
              <a:rPr lang="en-US" dirty="0"/>
              <a:t> di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.</a:t>
            </a:r>
          </a:p>
        </p:txBody>
      </p:sp>
      <p:sp>
        <p:nvSpPr>
          <p:cNvPr id="38" name="Flowchart: Off-page Connector 37">
            <a:hlinkClick r:id="rId6" action="ppaction://hlinksldjump"/>
            <a:extLst>
              <a:ext uri="{FF2B5EF4-FFF2-40B4-BE49-F238E27FC236}">
                <a16:creationId xmlns:a16="http://schemas.microsoft.com/office/drawing/2014/main" id="{DF9BA7C8-5F75-C02C-8D3B-249194BE9A0C}"/>
              </a:ext>
            </a:extLst>
          </p:cNvPr>
          <p:cNvSpPr/>
          <p:nvPr/>
        </p:nvSpPr>
        <p:spPr>
          <a:xfrm rot="16200000">
            <a:off x="7908270" y="-178398"/>
            <a:ext cx="654126" cy="1427170"/>
          </a:xfrm>
          <a:prstGeom prst="flowChartOffpage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A6D576-DB74-EB54-0DE1-9EFE2EF42051}"/>
              </a:ext>
            </a:extLst>
          </p:cNvPr>
          <p:cNvSpPr txBox="1"/>
          <p:nvPr/>
        </p:nvSpPr>
        <p:spPr>
          <a:xfrm>
            <a:off x="7792030" y="381298"/>
            <a:ext cx="115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9677274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DB1F99DB-86DB-BDDA-C663-E2D67A9E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: Rounded Corners 415">
            <a:extLst>
              <a:ext uri="{FF2B5EF4-FFF2-40B4-BE49-F238E27FC236}">
                <a16:creationId xmlns:a16="http://schemas.microsoft.com/office/drawing/2014/main" id="{0E2B75B7-C618-7551-A6DA-5F86AE9C337D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Evaluasi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25" name="Google Shape;278;p31">
            <a:extLst>
              <a:ext uri="{FF2B5EF4-FFF2-40B4-BE49-F238E27FC236}">
                <a16:creationId xmlns:a16="http://schemas.microsoft.com/office/drawing/2014/main" id="{57438B5C-1C7D-6908-AB42-DB5CF8B16F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770D5D-A9B4-1C4A-3BDF-B6C1C54E89D0}"/>
              </a:ext>
            </a:extLst>
          </p:cNvPr>
          <p:cNvSpPr/>
          <p:nvPr/>
        </p:nvSpPr>
        <p:spPr>
          <a:xfrm>
            <a:off x="261337" y="1281793"/>
            <a:ext cx="2375727" cy="4116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Training dan </a:t>
            </a:r>
            <a:r>
              <a:rPr lang="en-US" dirty="0" err="1"/>
              <a:t>Validasi</a:t>
            </a:r>
            <a:endParaRPr lang="en-US" dirty="0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97B04DB2-7EEC-B108-FE0C-1CB8BFADF530}"/>
              </a:ext>
            </a:extLst>
          </p:cNvPr>
          <p:cNvSpPr/>
          <p:nvPr/>
        </p:nvSpPr>
        <p:spPr>
          <a:xfrm>
            <a:off x="261337" y="1881928"/>
            <a:ext cx="2837463" cy="1147022"/>
          </a:xfrm>
          <a:prstGeom prst="homePlat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349BA7-7768-1D0D-FABF-7CC214999DB4}"/>
              </a:ext>
            </a:extLst>
          </p:cNvPr>
          <p:cNvCxnSpPr>
            <a:cxnSpLocks/>
          </p:cNvCxnSpPr>
          <p:nvPr/>
        </p:nvCxnSpPr>
        <p:spPr>
          <a:xfrm>
            <a:off x="1299976" y="3014470"/>
            <a:ext cx="0" cy="5394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4036D5F-CBEA-713B-6397-292EC961B393}"/>
              </a:ext>
            </a:extLst>
          </p:cNvPr>
          <p:cNvSpPr txBox="1"/>
          <p:nvPr/>
        </p:nvSpPr>
        <p:spPr>
          <a:xfrm>
            <a:off x="166400" y="3553930"/>
            <a:ext cx="30395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good generalization on unseen data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5985A1-29D4-5E0C-3FFE-84FBE10E83C9}"/>
              </a:ext>
            </a:extLst>
          </p:cNvPr>
          <p:cNvSpPr/>
          <p:nvPr/>
        </p:nvSpPr>
        <p:spPr>
          <a:xfrm>
            <a:off x="5108201" y="1279783"/>
            <a:ext cx="2375727" cy="4116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Confusion Matrix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383123-CC44-377A-E5CD-E546C4701C66}"/>
              </a:ext>
            </a:extLst>
          </p:cNvPr>
          <p:cNvSpPr txBox="1"/>
          <p:nvPr/>
        </p:nvSpPr>
        <p:spPr>
          <a:xfrm>
            <a:off x="3624943" y="1485599"/>
            <a:ext cx="947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Terhadap</a:t>
            </a:r>
            <a:r>
              <a:rPr lang="en-US" dirty="0"/>
              <a:t> data test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737D364-21B1-D02A-946A-1676B4AB2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834" y="1881928"/>
            <a:ext cx="2510460" cy="2300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2C4C333-F8D1-E7CD-FC9E-3F871D30ACBC}"/>
              </a:ext>
            </a:extLst>
          </p:cNvPr>
          <p:cNvCxnSpPr/>
          <p:nvPr/>
        </p:nvCxnSpPr>
        <p:spPr>
          <a:xfrm flipH="1" flipV="1">
            <a:off x="4618566" y="1877906"/>
            <a:ext cx="573920" cy="266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4881450-6BEF-F3B3-7828-5385F61BD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343" y="4252998"/>
            <a:ext cx="3650560" cy="822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52DE43-F26A-BE58-9CB6-25450BE31FD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417" b="54673"/>
          <a:stretch/>
        </p:blipFill>
        <p:spPr>
          <a:xfrm>
            <a:off x="291583" y="1997946"/>
            <a:ext cx="2206718" cy="3454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B84427-8871-6858-C636-67E0076ECC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348" r="61318"/>
          <a:stretch/>
        </p:blipFill>
        <p:spPr>
          <a:xfrm>
            <a:off x="292253" y="2432341"/>
            <a:ext cx="2206045" cy="5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69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372D3BFB-212D-13D4-8620-0E7E7F25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278;p31">
            <a:extLst>
              <a:ext uri="{FF2B5EF4-FFF2-40B4-BE49-F238E27FC236}">
                <a16:creationId xmlns:a16="http://schemas.microsoft.com/office/drawing/2014/main" id="{941BB6EE-BFEA-7505-7086-1B51AF6CCA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63DA0587-D361-2C63-1569-33296B86F327}"/>
              </a:ext>
            </a:extLst>
          </p:cNvPr>
          <p:cNvSpPr/>
          <p:nvPr/>
        </p:nvSpPr>
        <p:spPr>
          <a:xfrm>
            <a:off x="3747405" y="1453243"/>
            <a:ext cx="495111" cy="351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AAC4740E-D5F6-AB91-38A6-1F6154F8B2E3}"/>
              </a:ext>
            </a:extLst>
          </p:cNvPr>
          <p:cNvSpPr/>
          <p:nvPr/>
        </p:nvSpPr>
        <p:spPr>
          <a:xfrm>
            <a:off x="3722913" y="3681038"/>
            <a:ext cx="495111" cy="351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Off-page Connector 37">
            <a:hlinkClick r:id="rId4" action="ppaction://hlinksldjump"/>
            <a:extLst>
              <a:ext uri="{FF2B5EF4-FFF2-40B4-BE49-F238E27FC236}">
                <a16:creationId xmlns:a16="http://schemas.microsoft.com/office/drawing/2014/main" id="{49E4E173-265A-DED5-F173-54DAC25AE4E4}"/>
              </a:ext>
            </a:extLst>
          </p:cNvPr>
          <p:cNvSpPr/>
          <p:nvPr/>
        </p:nvSpPr>
        <p:spPr>
          <a:xfrm rot="16200000">
            <a:off x="7908270" y="-178398"/>
            <a:ext cx="654126" cy="1427170"/>
          </a:xfrm>
          <a:prstGeom prst="flowChartOffpage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17F401-5EEC-798D-FA68-99E915FB7535}"/>
              </a:ext>
            </a:extLst>
          </p:cNvPr>
          <p:cNvSpPr txBox="1"/>
          <p:nvPr/>
        </p:nvSpPr>
        <p:spPr>
          <a:xfrm>
            <a:off x="7792030" y="381298"/>
            <a:ext cx="115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5E2E0-5DBF-6A5D-351C-4330A01769DA}"/>
              </a:ext>
            </a:extLst>
          </p:cNvPr>
          <p:cNvSpPr txBox="1"/>
          <p:nvPr/>
        </p:nvSpPr>
        <p:spPr>
          <a:xfrm>
            <a:off x="4242516" y="1111398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Model </a:t>
            </a:r>
            <a:r>
              <a:rPr lang="en-US" sz="1200" dirty="0" err="1"/>
              <a:t>berhasil</a:t>
            </a:r>
            <a:r>
              <a:rPr lang="en-US" sz="1200" dirty="0"/>
              <a:t> </a:t>
            </a:r>
            <a:r>
              <a:rPr lang="en-US" sz="1200" dirty="0" err="1"/>
              <a:t>memprediksi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benar</a:t>
            </a:r>
            <a:r>
              <a:rPr lang="en-US" sz="1200" dirty="0"/>
              <a:t> 365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0 dan 260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1, </a:t>
            </a:r>
            <a:r>
              <a:rPr lang="en-US" sz="1200" dirty="0" err="1"/>
              <a:t>sementara</a:t>
            </a:r>
            <a:r>
              <a:rPr lang="en-US" sz="1200" dirty="0"/>
              <a:t> salah </a:t>
            </a:r>
            <a:r>
              <a:rPr lang="en-US" sz="1200" dirty="0" err="1"/>
              <a:t>mengklasifikasikan</a:t>
            </a:r>
            <a:r>
              <a:rPr lang="en-US" sz="1200" dirty="0"/>
              <a:t> 73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0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1 dan 52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1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0. Hal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kinerja</a:t>
            </a:r>
            <a:r>
              <a:rPr lang="en-US" sz="1200" dirty="0"/>
              <a:t> yang </a:t>
            </a:r>
            <a:r>
              <a:rPr lang="en-US" sz="1200" dirty="0" err="1"/>
              <a:t>relatif</a:t>
            </a:r>
            <a:r>
              <a:rPr lang="en-US" sz="1200" dirty="0"/>
              <a:t> </a:t>
            </a:r>
            <a:r>
              <a:rPr lang="en-US" sz="1200" dirty="0" err="1"/>
              <a:t>seimbang</a:t>
            </a:r>
            <a:r>
              <a:rPr lang="en-US" sz="1200" dirty="0"/>
              <a:t> di </a:t>
            </a:r>
            <a:r>
              <a:rPr lang="en-US" sz="1200" dirty="0" err="1"/>
              <a:t>kedua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C6037B3-874D-ACA8-87FF-587A069EF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20" y="315576"/>
            <a:ext cx="2631529" cy="241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C3FCBE-6E36-68B3-A70C-3B07E743A9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400" y="3559324"/>
            <a:ext cx="3499849" cy="7886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04D126-46E8-3A13-7BE5-1551A15846B2}"/>
              </a:ext>
            </a:extLst>
          </p:cNvPr>
          <p:cNvSpPr txBox="1"/>
          <p:nvPr/>
        </p:nvSpPr>
        <p:spPr>
          <a:xfrm>
            <a:off x="4293648" y="282321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Kelas</a:t>
            </a:r>
            <a:r>
              <a:rPr lang="en-US" sz="1200" dirty="0"/>
              <a:t> 0 </a:t>
            </a:r>
            <a:r>
              <a:rPr lang="en-US" sz="1200" dirty="0" err="1"/>
              <a:t>memiliki</a:t>
            </a:r>
            <a:r>
              <a:rPr lang="en-US" sz="1200" dirty="0"/>
              <a:t> precision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(0,88)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1 (0,78), yang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dirty="0" err="1"/>
              <a:t>ketika</a:t>
            </a:r>
            <a:r>
              <a:rPr lang="en-US" sz="1200" dirty="0"/>
              <a:t> model </a:t>
            </a:r>
            <a:r>
              <a:rPr lang="en-US" sz="1200" dirty="0" err="1"/>
              <a:t>memprediksi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0, </a:t>
            </a:r>
            <a:r>
              <a:rPr lang="en-US" sz="1200" dirty="0" err="1"/>
              <a:t>kemungkinan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prediksi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 </a:t>
            </a:r>
            <a:r>
              <a:rPr lang="en-US" sz="1200" dirty="0" err="1"/>
              <a:t>benar</a:t>
            </a:r>
            <a:r>
              <a:rPr lang="en-US" sz="1200" dirty="0"/>
              <a:t>. </a:t>
            </a:r>
            <a:r>
              <a:rPr lang="en-US" sz="1200" dirty="0" err="1"/>
              <a:t>Namun</a:t>
            </a:r>
            <a:r>
              <a:rPr lang="en-US" sz="1200" dirty="0"/>
              <a:t>, </a:t>
            </a:r>
            <a:r>
              <a:rPr lang="en-US" sz="1200" dirty="0" err="1"/>
              <a:t>kedua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recall yang </a:t>
            </a:r>
            <a:r>
              <a:rPr lang="en-US" sz="1200" dirty="0" err="1"/>
              <a:t>sama</a:t>
            </a:r>
            <a:r>
              <a:rPr lang="en-US" sz="1200" dirty="0"/>
              <a:t>, </a:t>
            </a:r>
            <a:r>
              <a:rPr lang="en-US" sz="1200" dirty="0" err="1"/>
              <a:t>yaitu</a:t>
            </a:r>
            <a:r>
              <a:rPr lang="en-US" sz="1200" dirty="0"/>
              <a:t> 0,83, yang </a:t>
            </a:r>
            <a:r>
              <a:rPr lang="en-US" sz="1200" dirty="0" err="1"/>
              <a:t>berarti</a:t>
            </a:r>
            <a:r>
              <a:rPr lang="en-US" sz="1200" dirty="0"/>
              <a:t> model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efektivitas</a:t>
            </a:r>
            <a:r>
              <a:rPr lang="en-US" sz="1200" dirty="0"/>
              <a:t> yang </a:t>
            </a:r>
            <a:r>
              <a:rPr lang="en-US" sz="1200" dirty="0" err="1"/>
              <a:t>setara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mengidentifikasi</a:t>
            </a:r>
            <a:r>
              <a:rPr lang="en-US" sz="1200" dirty="0"/>
              <a:t> instance yang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kedua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.</a:t>
            </a:r>
          </a:p>
          <a:p>
            <a:r>
              <a:rPr lang="en-US" sz="1200" dirty="0"/>
              <a:t>F1-score </a:t>
            </a:r>
            <a:r>
              <a:rPr lang="en-US" sz="1200" dirty="0" err="1"/>
              <a:t>sebesar</a:t>
            </a:r>
            <a:r>
              <a:rPr lang="en-US" sz="1200" dirty="0"/>
              <a:t> 0,85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0 dan 0,81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1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ketidakseimbangan</a:t>
            </a:r>
            <a:r>
              <a:rPr lang="en-US" sz="1200" dirty="0"/>
              <a:t> yang </a:t>
            </a:r>
            <a:r>
              <a:rPr lang="en-US" sz="1200" dirty="0" err="1"/>
              <a:t>menguntungkan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0. Rata-rata </a:t>
            </a:r>
            <a:r>
              <a:rPr lang="en-US" sz="1200" dirty="0" err="1"/>
              <a:t>makro</a:t>
            </a:r>
            <a:r>
              <a:rPr lang="en-US" sz="1200" dirty="0"/>
              <a:t> dan </a:t>
            </a:r>
            <a:r>
              <a:rPr lang="en-US" sz="1200" dirty="0" err="1"/>
              <a:t>terbobot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performa</a:t>
            </a:r>
            <a:r>
              <a:rPr lang="en-US" sz="1200" dirty="0"/>
              <a:t> model yang </a:t>
            </a:r>
            <a:r>
              <a:rPr lang="en-US" sz="1200" dirty="0" err="1"/>
              <a:t>stabil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keseluruhan</a:t>
            </a:r>
            <a:r>
              <a:rPr lang="en-US" sz="1200" dirty="0"/>
              <a:t>, </a:t>
            </a:r>
            <a:r>
              <a:rPr lang="en-US" sz="1200" dirty="0" err="1"/>
              <a:t>tanpa</a:t>
            </a:r>
            <a:r>
              <a:rPr lang="en-US" sz="1200" dirty="0"/>
              <a:t> bias </a:t>
            </a:r>
            <a:r>
              <a:rPr lang="en-US" sz="1200" dirty="0" err="1"/>
              <a:t>ekstrem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4322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C2226AFD-5D13-1A23-FD77-57692A2E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: Rounded Corners 415">
            <a:extLst>
              <a:ext uri="{FF2B5EF4-FFF2-40B4-BE49-F238E27FC236}">
                <a16:creationId xmlns:a16="http://schemas.microsoft.com/office/drawing/2014/main" id="{8E62BA5A-DD02-2675-5BFA-9BCA12927CF9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Evaluasi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25" name="Google Shape;278;p31">
            <a:extLst>
              <a:ext uri="{FF2B5EF4-FFF2-40B4-BE49-F238E27FC236}">
                <a16:creationId xmlns:a16="http://schemas.microsoft.com/office/drawing/2014/main" id="{F2A96C52-929F-DBCA-9AE5-C80F52A40B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E83784-EC30-08D3-0048-D86616D717EE}"/>
              </a:ext>
            </a:extLst>
          </p:cNvPr>
          <p:cNvSpPr/>
          <p:nvPr/>
        </p:nvSpPr>
        <p:spPr>
          <a:xfrm>
            <a:off x="261337" y="1281793"/>
            <a:ext cx="2375727" cy="4116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Training dan </a:t>
            </a:r>
            <a:r>
              <a:rPr lang="en-US" dirty="0" err="1"/>
              <a:t>Validasi</a:t>
            </a:r>
            <a:endParaRPr lang="en-US" dirty="0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55331DEE-3729-E286-2384-726EE1B1AFBC}"/>
              </a:ext>
            </a:extLst>
          </p:cNvPr>
          <p:cNvSpPr/>
          <p:nvPr/>
        </p:nvSpPr>
        <p:spPr>
          <a:xfrm>
            <a:off x="261337" y="1881928"/>
            <a:ext cx="2837463" cy="1147022"/>
          </a:xfrm>
          <a:prstGeom prst="homePlat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A6CB21-D61A-B08A-EDFD-A5BBAE4AE830}"/>
              </a:ext>
            </a:extLst>
          </p:cNvPr>
          <p:cNvCxnSpPr>
            <a:cxnSpLocks/>
          </p:cNvCxnSpPr>
          <p:nvPr/>
        </p:nvCxnSpPr>
        <p:spPr>
          <a:xfrm>
            <a:off x="1283648" y="3028950"/>
            <a:ext cx="0" cy="524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CAF63A0-DCC6-720F-86DA-564C4D529E38}"/>
              </a:ext>
            </a:extLst>
          </p:cNvPr>
          <p:cNvSpPr txBox="1"/>
          <p:nvPr/>
        </p:nvSpPr>
        <p:spPr>
          <a:xfrm>
            <a:off x="166400" y="3553930"/>
            <a:ext cx="30395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good generalization on unseen data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85FC003-5B9A-9B10-FEA2-44E50C34F6B3}"/>
              </a:ext>
            </a:extLst>
          </p:cNvPr>
          <p:cNvSpPr/>
          <p:nvPr/>
        </p:nvSpPr>
        <p:spPr>
          <a:xfrm>
            <a:off x="5108201" y="1279783"/>
            <a:ext cx="2375727" cy="4116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Confusion Matrix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B79BF2-AEBD-EF61-C91E-98D8B876F506}"/>
              </a:ext>
            </a:extLst>
          </p:cNvPr>
          <p:cNvSpPr txBox="1"/>
          <p:nvPr/>
        </p:nvSpPr>
        <p:spPr>
          <a:xfrm>
            <a:off x="3624943" y="1485599"/>
            <a:ext cx="947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Terhadap</a:t>
            </a:r>
            <a:r>
              <a:rPr lang="en-US" dirty="0"/>
              <a:t> data test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2B3A9-5A9E-39CC-A49C-008F57653F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640" b="65406"/>
          <a:stretch/>
        </p:blipFill>
        <p:spPr>
          <a:xfrm>
            <a:off x="302123" y="1974150"/>
            <a:ext cx="2220641" cy="3392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B33A29-44CF-6986-B377-77AAA0ACA2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360" r="61346"/>
          <a:stretch/>
        </p:blipFill>
        <p:spPr>
          <a:xfrm>
            <a:off x="302123" y="2475639"/>
            <a:ext cx="2220641" cy="491068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A4ED0CD5-FD7B-1E7A-457D-30C20E29D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143" y="1974150"/>
            <a:ext cx="2316877" cy="212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53AD96-06DD-3A15-8002-DF0AC9732561}"/>
              </a:ext>
            </a:extLst>
          </p:cNvPr>
          <p:cNvCxnSpPr/>
          <p:nvPr/>
        </p:nvCxnSpPr>
        <p:spPr>
          <a:xfrm flipH="1" flipV="1">
            <a:off x="4618566" y="1877906"/>
            <a:ext cx="573920" cy="266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5127F6F-D108-5093-FD3B-148592EC4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6341" y="4193069"/>
            <a:ext cx="3376543" cy="88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30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D9F68AAC-436D-9B38-76B0-55C4361A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278;p31">
            <a:extLst>
              <a:ext uri="{FF2B5EF4-FFF2-40B4-BE49-F238E27FC236}">
                <a16:creationId xmlns:a16="http://schemas.microsoft.com/office/drawing/2014/main" id="{D7E21FA2-A91C-2516-794D-8DF82661E2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4634853"/>
            <a:ext cx="1933850" cy="44077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564B20C4-14F1-802D-8E37-F456A669E399}"/>
              </a:ext>
            </a:extLst>
          </p:cNvPr>
          <p:cNvSpPr/>
          <p:nvPr/>
        </p:nvSpPr>
        <p:spPr>
          <a:xfrm>
            <a:off x="3747405" y="1453243"/>
            <a:ext cx="495111" cy="351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BE3DA6A0-0CDA-6BD4-26A4-C851D50BB527}"/>
              </a:ext>
            </a:extLst>
          </p:cNvPr>
          <p:cNvSpPr/>
          <p:nvPr/>
        </p:nvSpPr>
        <p:spPr>
          <a:xfrm>
            <a:off x="3722913" y="3681038"/>
            <a:ext cx="495111" cy="351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Off-page Connector 37">
            <a:hlinkClick r:id="rId4" action="ppaction://hlinksldjump"/>
            <a:extLst>
              <a:ext uri="{FF2B5EF4-FFF2-40B4-BE49-F238E27FC236}">
                <a16:creationId xmlns:a16="http://schemas.microsoft.com/office/drawing/2014/main" id="{71BEF9FA-E331-7178-BDA7-09E08ECB2493}"/>
              </a:ext>
            </a:extLst>
          </p:cNvPr>
          <p:cNvSpPr/>
          <p:nvPr/>
        </p:nvSpPr>
        <p:spPr>
          <a:xfrm rot="16200000">
            <a:off x="7908270" y="-178398"/>
            <a:ext cx="654126" cy="1427170"/>
          </a:xfrm>
          <a:prstGeom prst="flowChartOffpage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7FDAA0-5CF1-3445-1CCF-1977107A69A2}"/>
              </a:ext>
            </a:extLst>
          </p:cNvPr>
          <p:cNvSpPr txBox="1"/>
          <p:nvPr/>
        </p:nvSpPr>
        <p:spPr>
          <a:xfrm>
            <a:off x="7792030" y="381298"/>
            <a:ext cx="115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614A0-705A-C4D8-C216-CE9D55953A25}"/>
              </a:ext>
            </a:extLst>
          </p:cNvPr>
          <p:cNvSpPr txBox="1"/>
          <p:nvPr/>
        </p:nvSpPr>
        <p:spPr>
          <a:xfrm>
            <a:off x="4242516" y="1004088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mengklasifikasikan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382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0 dan 275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1,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mdel</a:t>
            </a:r>
            <a:r>
              <a:rPr lang="en-US" dirty="0"/>
              <a:t> juga salah </a:t>
            </a:r>
            <a:r>
              <a:rPr lang="en-US" dirty="0" err="1"/>
              <a:t>mengklasifikasikan</a:t>
            </a:r>
            <a:r>
              <a:rPr lang="en-US" dirty="0"/>
              <a:t> 56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0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1 dan 37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1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0. 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model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false positive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1 </a:t>
            </a:r>
            <a:r>
              <a:rPr lang="en-US" dirty="0" err="1"/>
              <a:t>dibandingkan</a:t>
            </a:r>
            <a:r>
              <a:rPr lang="en-US" dirty="0"/>
              <a:t> false negative.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B7E6C8C-8B7B-65EE-DD33-2BDB033BB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158" y="689075"/>
            <a:ext cx="2211691" cy="202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C49A30-DA4E-075D-06F5-F72280CF5D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636" y="3317464"/>
            <a:ext cx="2822213" cy="10782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C024C6-A343-097A-B7BA-B0BEA675EBCD}"/>
              </a:ext>
            </a:extLst>
          </p:cNvPr>
          <p:cNvSpPr txBox="1"/>
          <p:nvPr/>
        </p:nvSpPr>
        <p:spPr>
          <a:xfrm>
            <a:off x="4242516" y="294632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Kelas</a:t>
            </a:r>
            <a:r>
              <a:rPr lang="en-US" dirty="0"/>
              <a:t> 0 </a:t>
            </a:r>
            <a:r>
              <a:rPr lang="en-US" dirty="0" err="1"/>
              <a:t>memiliki</a:t>
            </a:r>
            <a:r>
              <a:rPr lang="en-US" dirty="0"/>
              <a:t> precision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(0,91), yang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 false positive,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1 </a:t>
            </a:r>
            <a:r>
              <a:rPr lang="en-US" dirty="0" err="1"/>
              <a:t>memiliki</a:t>
            </a:r>
            <a:r>
              <a:rPr lang="en-US" dirty="0"/>
              <a:t> recall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(0,88),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sensitivitas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menangkap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yang </a:t>
            </a:r>
            <a:r>
              <a:rPr lang="en-US" dirty="0" err="1"/>
              <a:t>sebenarnya</a:t>
            </a:r>
            <a:r>
              <a:rPr lang="en-US" dirty="0"/>
              <a:t>. F1-score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seimbang</a:t>
            </a:r>
            <a:r>
              <a:rPr lang="en-US" dirty="0"/>
              <a:t>,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model </a:t>
            </a:r>
            <a:r>
              <a:rPr lang="en-US" dirty="0" err="1"/>
              <a:t>mempertahankan</a:t>
            </a:r>
            <a:r>
              <a:rPr lang="en-US" dirty="0"/>
              <a:t> </a:t>
            </a:r>
            <a:r>
              <a:rPr lang="en-US" dirty="0" err="1"/>
              <a:t>keseimbangan</a:t>
            </a:r>
            <a:r>
              <a:rPr lang="en-US" dirty="0"/>
              <a:t> yang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precision dan recall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8463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7D144B64-09EA-0883-25BA-C53C8442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506507-AB58-776A-789A-BD84A075CB00}"/>
              </a:ext>
            </a:extLst>
          </p:cNvPr>
          <p:cNvSpPr/>
          <p:nvPr/>
        </p:nvSpPr>
        <p:spPr>
          <a:xfrm>
            <a:off x="3098800" y="296333"/>
            <a:ext cx="3039533" cy="4910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Kesimpulan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A59D5-74D6-AC3C-0CB5-98DAD294F5C0}"/>
              </a:ext>
            </a:extLst>
          </p:cNvPr>
          <p:cNvSpPr txBox="1"/>
          <p:nvPr/>
        </p:nvSpPr>
        <p:spPr>
          <a:xfrm>
            <a:off x="1859037" y="982990"/>
            <a:ext cx="6223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VGG16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b="1" dirty="0"/>
              <a:t>90%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precision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pada </a:t>
            </a:r>
            <a:r>
              <a:rPr lang="en-US" dirty="0" err="1"/>
              <a:t>Kelas</a:t>
            </a:r>
            <a:r>
              <a:rPr lang="en-US" dirty="0"/>
              <a:t> 0,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yang </a:t>
            </a:r>
            <a:r>
              <a:rPr lang="en-US" dirty="0" err="1"/>
              <a:t>sedikit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pada </a:t>
            </a:r>
            <a:r>
              <a:rPr lang="en-US" dirty="0" err="1"/>
              <a:t>Kelas</a:t>
            </a:r>
            <a:r>
              <a:rPr lang="en-US" dirty="0"/>
              <a:t> 1.</a:t>
            </a:r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CDCC00A6-24AE-2284-A1DA-9BF1CC641E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086" y="787400"/>
            <a:ext cx="914400" cy="91440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378FB2CD-DDDE-D15A-03A5-DAA6BC168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086" y="1506210"/>
            <a:ext cx="914400" cy="914400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BC1A15A2-DF97-0EBD-E2C5-0C53495CD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086" y="2354943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A3DA25-624C-AFB8-62C8-B03B5266CD6B}"/>
              </a:ext>
            </a:extLst>
          </p:cNvPr>
          <p:cNvSpPr txBox="1"/>
          <p:nvPr/>
        </p:nvSpPr>
        <p:spPr>
          <a:xfrm>
            <a:off x="1859037" y="1701800"/>
            <a:ext cx="6506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ResNet50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b="1" dirty="0"/>
              <a:t>88%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keseimbangan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precision dan recall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, </a:t>
            </a:r>
            <a:r>
              <a:rPr lang="en-US" dirty="0" err="1"/>
              <a:t>serta</a:t>
            </a:r>
            <a:r>
              <a:rPr lang="en-US" dirty="0"/>
              <a:t> F1-score yang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stabil</a:t>
            </a:r>
            <a:r>
              <a:rPr lang="en-US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C8D6C0-81A8-4779-337E-4AF367F60BB5}"/>
              </a:ext>
            </a:extLst>
          </p:cNvPr>
          <p:cNvSpPr txBox="1"/>
          <p:nvPr/>
        </p:nvSpPr>
        <p:spPr>
          <a:xfrm>
            <a:off x="1859037" y="2420610"/>
            <a:ext cx="64277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GoogLeNet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b="1" dirty="0"/>
              <a:t>83%</a:t>
            </a:r>
            <a:r>
              <a:rPr lang="en-US" dirty="0"/>
              <a:t>, yang </a:t>
            </a:r>
            <a:r>
              <a:rPr lang="en-US" dirty="0" err="1"/>
              <a:t>merupakan</a:t>
            </a:r>
            <a:r>
              <a:rPr lang="en-US" dirty="0"/>
              <a:t> yang </a:t>
            </a:r>
            <a:r>
              <a:rPr lang="en-US" dirty="0" err="1"/>
              <a:t>terendah</a:t>
            </a:r>
            <a:r>
              <a:rPr lang="en-US" dirty="0"/>
              <a:t> di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ketiga</a:t>
            </a:r>
            <a:r>
              <a:rPr lang="en-US" dirty="0"/>
              <a:t> model, </a:t>
            </a:r>
            <a:r>
              <a:rPr lang="en-US" dirty="0" err="1"/>
              <a:t>dengan</a:t>
            </a:r>
            <a:r>
              <a:rPr lang="en-US" dirty="0"/>
              <a:t> precision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0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ketidakseimbangan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nyata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F1-score.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DD14393-20BC-2637-6180-1E57578B1FB2}"/>
              </a:ext>
            </a:extLst>
          </p:cNvPr>
          <p:cNvSpPr/>
          <p:nvPr/>
        </p:nvSpPr>
        <p:spPr>
          <a:xfrm>
            <a:off x="955221" y="3208509"/>
            <a:ext cx="7331529" cy="914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621C6B-D012-5DEA-D4A1-D5C5ABDCD8F0}"/>
              </a:ext>
            </a:extLst>
          </p:cNvPr>
          <p:cNvSpPr txBox="1"/>
          <p:nvPr/>
        </p:nvSpPr>
        <p:spPr>
          <a:xfrm>
            <a:off x="1404710" y="3404099"/>
            <a:ext cx="6427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VGG16 </a:t>
            </a:r>
            <a:r>
              <a:rPr lang="en-US" b="1" dirty="0" err="1"/>
              <a:t>adalah</a:t>
            </a:r>
            <a:r>
              <a:rPr lang="en-US" b="1" dirty="0"/>
              <a:t> model </a:t>
            </a:r>
            <a:r>
              <a:rPr lang="en-US" b="1" dirty="0" err="1"/>
              <a:t>terbaik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hal</a:t>
            </a:r>
            <a:r>
              <a:rPr lang="en-US" b="1" dirty="0"/>
              <a:t> </a:t>
            </a:r>
            <a:r>
              <a:rPr lang="en-US" b="1" dirty="0" err="1"/>
              <a:t>akurasi</a:t>
            </a:r>
            <a:r>
              <a:rPr lang="en-US" b="1" dirty="0"/>
              <a:t> </a:t>
            </a:r>
            <a:r>
              <a:rPr lang="en-US" b="1" dirty="0" err="1"/>
              <a:t>keseluruhan</a:t>
            </a:r>
            <a:r>
              <a:rPr lang="en-US" b="1" dirty="0"/>
              <a:t> (90%)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b="1" dirty="0"/>
              <a:t>ResNet50 </a:t>
            </a:r>
            <a:r>
              <a:rPr lang="en-US" b="1" dirty="0" err="1"/>
              <a:t>lebih</a:t>
            </a:r>
            <a:r>
              <a:rPr lang="en-US" b="1" dirty="0"/>
              <a:t> </a:t>
            </a:r>
            <a:r>
              <a:rPr lang="en-US" b="1" dirty="0" err="1"/>
              <a:t>seimbang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menangani</a:t>
            </a:r>
            <a:r>
              <a:rPr lang="en-US" b="1" dirty="0"/>
              <a:t> </a:t>
            </a:r>
            <a:r>
              <a:rPr lang="en-US" b="1" dirty="0" err="1"/>
              <a:t>kedua</a:t>
            </a:r>
            <a:r>
              <a:rPr lang="en-US" b="1" dirty="0"/>
              <a:t> </a:t>
            </a:r>
            <a:r>
              <a:rPr lang="en-US" b="1" dirty="0" err="1"/>
              <a:t>kelas</a:t>
            </a:r>
            <a:endParaRPr lang="en-US" dirty="0"/>
          </a:p>
        </p:txBody>
      </p:sp>
      <p:pic>
        <p:nvPicPr>
          <p:cNvPr id="11266" name="Picture 2" descr="Best - Free commerce and shopping icons">
            <a:extLst>
              <a:ext uri="{FF2B5EF4-FFF2-40B4-BE49-F238E27FC236}">
                <a16:creationId xmlns:a16="http://schemas.microsoft.com/office/drawing/2014/main" id="{41BA5C29-63CB-93A2-E3E3-F868D70DD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428" y="3861652"/>
            <a:ext cx="1360714" cy="136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048A7F20-D164-A212-99B9-657F2831E546}"/>
              </a:ext>
            </a:extLst>
          </p:cNvPr>
          <p:cNvSpPr/>
          <p:nvPr/>
        </p:nvSpPr>
        <p:spPr>
          <a:xfrm>
            <a:off x="1306286" y="4155919"/>
            <a:ext cx="495111" cy="351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B4DDCC6-498E-789D-4626-EC8553425563}"/>
              </a:ext>
            </a:extLst>
          </p:cNvPr>
          <p:cNvSpPr/>
          <p:nvPr/>
        </p:nvSpPr>
        <p:spPr>
          <a:xfrm>
            <a:off x="1306285" y="4656512"/>
            <a:ext cx="495111" cy="351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E76B0F-83E5-C5F5-8A5B-7A512537A4B4}"/>
              </a:ext>
            </a:extLst>
          </p:cNvPr>
          <p:cNvSpPr txBox="1"/>
          <p:nvPr/>
        </p:nvSpPr>
        <p:spPr>
          <a:xfrm>
            <a:off x="1859037" y="4177562"/>
            <a:ext cx="1747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VGG16 (</a:t>
            </a:r>
            <a:r>
              <a:rPr lang="en-US" dirty="0" err="1"/>
              <a:t>akurasi</a:t>
            </a:r>
            <a:r>
              <a:rPr lang="en-US" dirty="0"/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029896-4EF9-0287-1D20-115AB5075384}"/>
              </a:ext>
            </a:extLst>
          </p:cNvPr>
          <p:cNvSpPr txBox="1"/>
          <p:nvPr/>
        </p:nvSpPr>
        <p:spPr>
          <a:xfrm>
            <a:off x="1863573" y="4665983"/>
            <a:ext cx="3826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ResNet50 (</a:t>
            </a:r>
            <a:r>
              <a:rPr lang="en-US" dirty="0" err="1"/>
              <a:t>stabilisasi</a:t>
            </a:r>
            <a:r>
              <a:rPr lang="en-US" dirty="0"/>
              <a:t> </a:t>
            </a:r>
            <a:r>
              <a:rPr lang="en-US" dirty="0" err="1"/>
              <a:t>presisi</a:t>
            </a:r>
            <a:r>
              <a:rPr lang="en-US" dirty="0"/>
              <a:t> dan recall)</a:t>
            </a:r>
          </a:p>
        </p:txBody>
      </p:sp>
    </p:spTree>
    <p:extLst>
      <p:ext uri="{BB962C8B-B14F-4D97-AF65-F5344CB8AC3E}">
        <p14:creationId xmlns:p14="http://schemas.microsoft.com/office/powerpoint/2010/main" val="1137655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5" grpId="0"/>
      <p:bldP spid="18" grpId="0" animBg="1"/>
      <p:bldP spid="19" grpId="0"/>
      <p:bldP spid="20" grpId="0" animBg="1"/>
      <p:bldP spid="21" grpId="0" animBg="1"/>
      <p:bldP spid="22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2736656-1A87-9AA0-6912-5657EBD53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>
            <a:extLst>
              <a:ext uri="{FF2B5EF4-FFF2-40B4-BE49-F238E27FC236}">
                <a16:creationId xmlns:a16="http://schemas.microsoft.com/office/drawing/2014/main" id="{4C225C73-A4AA-D8A6-0A93-AD0766981F1B}"/>
              </a:ext>
            </a:extLst>
          </p:cNvPr>
          <p:cNvSpPr/>
          <p:nvPr/>
        </p:nvSpPr>
        <p:spPr>
          <a:xfrm>
            <a:off x="0" y="-41400"/>
            <a:ext cx="9129000" cy="5226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1" name="Google Shape;311;p33">
            <a:extLst>
              <a:ext uri="{FF2B5EF4-FFF2-40B4-BE49-F238E27FC236}">
                <a16:creationId xmlns:a16="http://schemas.microsoft.com/office/drawing/2014/main" id="{92612518-7B32-968F-D79B-0EFB82C1C5A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2650" y="4643616"/>
            <a:ext cx="1933850" cy="440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2" name="Picture 4" descr="Don Quixote from Limbus Company&quot; Poster for Sale by peridotdotdraws |  Redbubble">
            <a:extLst>
              <a:ext uri="{FF2B5EF4-FFF2-40B4-BE49-F238E27FC236}">
                <a16:creationId xmlns:a16="http://schemas.microsoft.com/office/drawing/2014/main" id="{86F0DAB6-2281-1902-F463-93246693BB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964"/>
          <a:stretch/>
        </p:blipFill>
        <p:spPr bwMode="auto">
          <a:xfrm>
            <a:off x="-101179" y="2098221"/>
            <a:ext cx="2730079" cy="298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1648EE32-CB8E-857D-9961-B44DC794629B}"/>
              </a:ext>
            </a:extLst>
          </p:cNvPr>
          <p:cNvSpPr/>
          <p:nvPr/>
        </p:nvSpPr>
        <p:spPr>
          <a:xfrm>
            <a:off x="375558" y="1126671"/>
            <a:ext cx="2669721" cy="971550"/>
          </a:xfrm>
          <a:prstGeom prst="wedgeEllipseCallout">
            <a:avLst>
              <a:gd name="adj1" fmla="val -15940"/>
              <a:gd name="adj2" fmla="val 111239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Yey</a:t>
            </a:r>
            <a:r>
              <a:rPr lang="en-US" dirty="0"/>
              <a:t> </a:t>
            </a:r>
            <a:r>
              <a:rPr lang="en-US" dirty="0" err="1"/>
              <a:t>Kelar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831220-AC2E-CB6C-8406-3A6A7152FBAA}"/>
              </a:ext>
            </a:extLst>
          </p:cNvPr>
          <p:cNvSpPr txBox="1"/>
          <p:nvPr/>
        </p:nvSpPr>
        <p:spPr>
          <a:xfrm>
            <a:off x="3127586" y="1282980"/>
            <a:ext cx="59191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>
                <a:solidFill>
                  <a:schemeClr val="bg1"/>
                </a:solidFill>
              </a:rPr>
              <a:t>Sekian</a:t>
            </a:r>
            <a:r>
              <a:rPr lang="en-US" sz="7200" dirty="0">
                <a:solidFill>
                  <a:schemeClr val="bg1"/>
                </a:solidFill>
              </a:rPr>
              <a:t> dan </a:t>
            </a:r>
            <a:r>
              <a:rPr lang="en-US" sz="7200" dirty="0" err="1">
                <a:solidFill>
                  <a:schemeClr val="bg1"/>
                </a:solidFill>
              </a:rPr>
              <a:t>Terima</a:t>
            </a:r>
            <a:r>
              <a:rPr lang="en-US" sz="7200" dirty="0">
                <a:solidFill>
                  <a:schemeClr val="bg1"/>
                </a:solidFill>
              </a:rPr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2647520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Office PowerPoint</Application>
  <PresentationFormat>On-screen Show (16:9)</PresentationFormat>
  <Paragraphs>152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Inter SemiBold</vt:lpstr>
      <vt:lpstr>Inter ExtraBold</vt:lpstr>
      <vt:lpstr>Playfair Display</vt:lpstr>
      <vt:lpstr>Inter Light</vt:lpstr>
      <vt:lpstr>Inter</vt:lpstr>
      <vt:lpstr>Arial</vt:lpstr>
      <vt:lpstr>Lato</vt:lpstr>
      <vt:lpstr>Coral</vt:lpstr>
      <vt:lpstr>Face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Preprocessing+Cleaning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Justin Ryan Pangestu</cp:lastModifiedBy>
  <cp:revision>1</cp:revision>
  <dcterms:modified xsi:type="dcterms:W3CDTF">2025-02-07T13:08:34Z</dcterms:modified>
</cp:coreProperties>
</file>